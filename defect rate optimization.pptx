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59" r:id="rId3"/>
    <p:sldId id="260" r:id="rId4"/>
    <p:sldId id="261" r:id="rId5"/>
    <p:sldId id="262" r:id="rId6"/>
    <p:sldId id="263" r:id="rId7"/>
    <p:sldId id="258" r:id="rId8"/>
    <p:sldId id="264" r:id="rId9"/>
    <p:sldId id="265" r:id="rId10"/>
    <p:sldId id="267" r:id="rId11"/>
    <p:sldId id="266" r:id="rId12"/>
    <p:sldId id="269" r:id="rId13"/>
    <p:sldId id="268" r:id="rId14"/>
    <p:sldId id="270" r:id="rId15"/>
    <p:sldId id="271" r:id="rId16"/>
    <p:sldId id="272" r:id="rId17"/>
    <p:sldId id="273" r:id="rId18"/>
    <p:sldId id="2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70" autoAdjust="0"/>
    <p:restoredTop sz="94660"/>
  </p:normalViewPr>
  <p:slideViewPr>
    <p:cSldViewPr snapToGrid="0">
      <p:cViewPr varScale="1">
        <p:scale>
          <a:sx n="64" d="100"/>
          <a:sy n="64" d="100"/>
        </p:scale>
        <p:origin x="99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A3F47-3E9F-42EE-B9B1-340F9A06C6DB}" type="datetimeFigureOut">
              <a:rPr lang="en-IN" smtClean="0"/>
              <a:t>01-02-2026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CF2936-ED52-4D8F-995A-BC91BA6CF1B4}" type="slidenum">
              <a:rPr lang="en-IN" smtClean="0"/>
              <a:t>‹#›</a:t>
            </a:fld>
            <a:endParaRPr lang="en-IN"/>
          </a:p>
        </p:txBody>
      </p:sp>
    </p:spTree>
    <p:extLst>
      <p:ext uri="{BB962C8B-B14F-4D97-AF65-F5344CB8AC3E}">
        <p14:creationId xmlns:p14="http://schemas.microsoft.com/office/powerpoint/2010/main" val="2448753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CF2936-ED52-4D8F-995A-BC91BA6CF1B4}" type="slidenum">
              <a:rPr lang="en-IN" smtClean="0"/>
              <a:t>5</a:t>
            </a:fld>
            <a:endParaRPr lang="en-IN"/>
          </a:p>
        </p:txBody>
      </p:sp>
    </p:spTree>
    <p:extLst>
      <p:ext uri="{BB962C8B-B14F-4D97-AF65-F5344CB8AC3E}">
        <p14:creationId xmlns:p14="http://schemas.microsoft.com/office/powerpoint/2010/main" val="634557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22745-FB15-69AC-583F-309B95478E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D6898B8-CE3F-62AB-40A0-B2A745C11D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6571403-8BB2-F0FF-C9D2-C570C20B924E}"/>
              </a:ext>
            </a:extLst>
          </p:cNvPr>
          <p:cNvSpPr>
            <a:spLocks noGrp="1"/>
          </p:cNvSpPr>
          <p:nvPr>
            <p:ph type="dt" sz="half" idx="10"/>
          </p:nvPr>
        </p:nvSpPr>
        <p:spPr/>
        <p:txBody>
          <a:bodyPr/>
          <a:lstStyle/>
          <a:p>
            <a:fld id="{3E6A77F8-1EAB-47CA-A9FC-9FDDB4AF10D0}" type="datetimeFigureOut">
              <a:rPr lang="en-IN" smtClean="0"/>
              <a:t>01-02-2026</a:t>
            </a:fld>
            <a:endParaRPr lang="en-IN"/>
          </a:p>
        </p:txBody>
      </p:sp>
      <p:sp>
        <p:nvSpPr>
          <p:cNvPr id="5" name="Footer Placeholder 4">
            <a:extLst>
              <a:ext uri="{FF2B5EF4-FFF2-40B4-BE49-F238E27FC236}">
                <a16:creationId xmlns:a16="http://schemas.microsoft.com/office/drawing/2014/main" id="{7C5ABA25-8602-2780-65FD-062CB4E550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DBBB85-D569-18A1-BFD8-24B467D29618}"/>
              </a:ext>
            </a:extLst>
          </p:cNvPr>
          <p:cNvSpPr>
            <a:spLocks noGrp="1"/>
          </p:cNvSpPr>
          <p:nvPr>
            <p:ph type="sldNum" sz="quarter" idx="12"/>
          </p:nvPr>
        </p:nvSpPr>
        <p:spPr/>
        <p:txBody>
          <a:bodyPr/>
          <a:lstStyle/>
          <a:p>
            <a:fld id="{A26987D5-AE30-4BAF-9B49-87D949EB6BB6}" type="slidenum">
              <a:rPr lang="en-IN" smtClean="0"/>
              <a:t>‹#›</a:t>
            </a:fld>
            <a:endParaRPr lang="en-IN"/>
          </a:p>
        </p:txBody>
      </p:sp>
    </p:spTree>
    <p:extLst>
      <p:ext uri="{BB962C8B-B14F-4D97-AF65-F5344CB8AC3E}">
        <p14:creationId xmlns:p14="http://schemas.microsoft.com/office/powerpoint/2010/main" val="832684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E6BF8-779A-8CC1-2297-A21168E197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4E83AB-6069-81F1-2DB6-64383D5DD4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9FE918-11B4-C028-A613-BFA0226592E2}"/>
              </a:ext>
            </a:extLst>
          </p:cNvPr>
          <p:cNvSpPr>
            <a:spLocks noGrp="1"/>
          </p:cNvSpPr>
          <p:nvPr>
            <p:ph type="dt" sz="half" idx="10"/>
          </p:nvPr>
        </p:nvSpPr>
        <p:spPr/>
        <p:txBody>
          <a:bodyPr/>
          <a:lstStyle/>
          <a:p>
            <a:fld id="{3E6A77F8-1EAB-47CA-A9FC-9FDDB4AF10D0}" type="datetimeFigureOut">
              <a:rPr lang="en-IN" smtClean="0"/>
              <a:t>01-02-2026</a:t>
            </a:fld>
            <a:endParaRPr lang="en-IN"/>
          </a:p>
        </p:txBody>
      </p:sp>
      <p:sp>
        <p:nvSpPr>
          <p:cNvPr id="5" name="Footer Placeholder 4">
            <a:extLst>
              <a:ext uri="{FF2B5EF4-FFF2-40B4-BE49-F238E27FC236}">
                <a16:creationId xmlns:a16="http://schemas.microsoft.com/office/drawing/2014/main" id="{69018D80-6FA2-D55A-70B1-DFC9032924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871FCB-5DEE-D95E-0FA4-B52B5A613DB6}"/>
              </a:ext>
            </a:extLst>
          </p:cNvPr>
          <p:cNvSpPr>
            <a:spLocks noGrp="1"/>
          </p:cNvSpPr>
          <p:nvPr>
            <p:ph type="sldNum" sz="quarter" idx="12"/>
          </p:nvPr>
        </p:nvSpPr>
        <p:spPr/>
        <p:txBody>
          <a:bodyPr/>
          <a:lstStyle/>
          <a:p>
            <a:fld id="{A26987D5-AE30-4BAF-9B49-87D949EB6BB6}" type="slidenum">
              <a:rPr lang="en-IN" smtClean="0"/>
              <a:t>‹#›</a:t>
            </a:fld>
            <a:endParaRPr lang="en-IN"/>
          </a:p>
        </p:txBody>
      </p:sp>
    </p:spTree>
    <p:extLst>
      <p:ext uri="{BB962C8B-B14F-4D97-AF65-F5344CB8AC3E}">
        <p14:creationId xmlns:p14="http://schemas.microsoft.com/office/powerpoint/2010/main" val="2360447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A35D7-DDF4-07BB-B4FD-D68BE1BC95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199212E-EEEB-07A9-F7A3-9F93258201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24C336-E5F7-9E02-7BE9-6BF185940C42}"/>
              </a:ext>
            </a:extLst>
          </p:cNvPr>
          <p:cNvSpPr>
            <a:spLocks noGrp="1"/>
          </p:cNvSpPr>
          <p:nvPr>
            <p:ph type="dt" sz="half" idx="10"/>
          </p:nvPr>
        </p:nvSpPr>
        <p:spPr/>
        <p:txBody>
          <a:bodyPr/>
          <a:lstStyle/>
          <a:p>
            <a:fld id="{3E6A77F8-1EAB-47CA-A9FC-9FDDB4AF10D0}" type="datetimeFigureOut">
              <a:rPr lang="en-IN" smtClean="0"/>
              <a:t>01-02-2026</a:t>
            </a:fld>
            <a:endParaRPr lang="en-IN"/>
          </a:p>
        </p:txBody>
      </p:sp>
      <p:sp>
        <p:nvSpPr>
          <p:cNvPr id="5" name="Footer Placeholder 4">
            <a:extLst>
              <a:ext uri="{FF2B5EF4-FFF2-40B4-BE49-F238E27FC236}">
                <a16:creationId xmlns:a16="http://schemas.microsoft.com/office/drawing/2014/main" id="{54DECE7B-69D3-5EC2-4E2F-64E6F5214C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7CC94E-FDCB-87F8-817B-63AB515C8F8A}"/>
              </a:ext>
            </a:extLst>
          </p:cNvPr>
          <p:cNvSpPr>
            <a:spLocks noGrp="1"/>
          </p:cNvSpPr>
          <p:nvPr>
            <p:ph type="sldNum" sz="quarter" idx="12"/>
          </p:nvPr>
        </p:nvSpPr>
        <p:spPr/>
        <p:txBody>
          <a:bodyPr/>
          <a:lstStyle/>
          <a:p>
            <a:fld id="{A26987D5-AE30-4BAF-9B49-87D949EB6BB6}" type="slidenum">
              <a:rPr lang="en-IN" smtClean="0"/>
              <a:t>‹#›</a:t>
            </a:fld>
            <a:endParaRPr lang="en-IN"/>
          </a:p>
        </p:txBody>
      </p:sp>
    </p:spTree>
    <p:extLst>
      <p:ext uri="{BB962C8B-B14F-4D97-AF65-F5344CB8AC3E}">
        <p14:creationId xmlns:p14="http://schemas.microsoft.com/office/powerpoint/2010/main" val="1892798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54324-9108-D915-E711-4BFAADCD86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914148-75C4-7B91-ECD5-0BD57CF921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B6F7FB2-A29D-BA43-EEBF-6028B3236D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8F634E8-4D5B-F38A-9854-4BEA5263889B}"/>
              </a:ext>
            </a:extLst>
          </p:cNvPr>
          <p:cNvSpPr>
            <a:spLocks noGrp="1"/>
          </p:cNvSpPr>
          <p:nvPr>
            <p:ph type="dt" sz="half" idx="10"/>
          </p:nvPr>
        </p:nvSpPr>
        <p:spPr/>
        <p:txBody>
          <a:bodyPr/>
          <a:lstStyle/>
          <a:p>
            <a:fld id="{3E6A77F8-1EAB-47CA-A9FC-9FDDB4AF10D0}" type="datetimeFigureOut">
              <a:rPr lang="en-IN" smtClean="0"/>
              <a:t>01-02-2026</a:t>
            </a:fld>
            <a:endParaRPr lang="en-IN"/>
          </a:p>
        </p:txBody>
      </p:sp>
      <p:sp>
        <p:nvSpPr>
          <p:cNvPr id="6" name="Footer Placeholder 5">
            <a:extLst>
              <a:ext uri="{FF2B5EF4-FFF2-40B4-BE49-F238E27FC236}">
                <a16:creationId xmlns:a16="http://schemas.microsoft.com/office/drawing/2014/main" id="{B79CCC5B-19B2-AE4B-8536-29767B4D3F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43A4BA-369F-BEB4-583A-255C14D3DFEB}"/>
              </a:ext>
            </a:extLst>
          </p:cNvPr>
          <p:cNvSpPr>
            <a:spLocks noGrp="1"/>
          </p:cNvSpPr>
          <p:nvPr>
            <p:ph type="sldNum" sz="quarter" idx="12"/>
          </p:nvPr>
        </p:nvSpPr>
        <p:spPr/>
        <p:txBody>
          <a:bodyPr/>
          <a:lstStyle/>
          <a:p>
            <a:fld id="{A26987D5-AE30-4BAF-9B49-87D949EB6BB6}" type="slidenum">
              <a:rPr lang="en-IN" smtClean="0"/>
              <a:t>‹#›</a:t>
            </a:fld>
            <a:endParaRPr lang="en-IN"/>
          </a:p>
        </p:txBody>
      </p:sp>
    </p:spTree>
    <p:extLst>
      <p:ext uri="{BB962C8B-B14F-4D97-AF65-F5344CB8AC3E}">
        <p14:creationId xmlns:p14="http://schemas.microsoft.com/office/powerpoint/2010/main" val="3742879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3F2DA-D649-99E5-0F5C-D746D47DDEF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56C8500-D66A-92BE-DFD3-FC13EFB357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C96547-4CC3-310D-6824-388B2BEA32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755E317-683F-EA8F-08A5-14839BF569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163D8D-4241-0AFD-9DE8-2AD3E5AFD5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572E186-F823-BA53-B0B1-AE0E4F22679E}"/>
              </a:ext>
            </a:extLst>
          </p:cNvPr>
          <p:cNvSpPr>
            <a:spLocks noGrp="1"/>
          </p:cNvSpPr>
          <p:nvPr>
            <p:ph type="dt" sz="half" idx="10"/>
          </p:nvPr>
        </p:nvSpPr>
        <p:spPr/>
        <p:txBody>
          <a:bodyPr/>
          <a:lstStyle/>
          <a:p>
            <a:fld id="{3E6A77F8-1EAB-47CA-A9FC-9FDDB4AF10D0}" type="datetimeFigureOut">
              <a:rPr lang="en-IN" smtClean="0"/>
              <a:t>01-02-2026</a:t>
            </a:fld>
            <a:endParaRPr lang="en-IN"/>
          </a:p>
        </p:txBody>
      </p:sp>
      <p:sp>
        <p:nvSpPr>
          <p:cNvPr id="8" name="Footer Placeholder 7">
            <a:extLst>
              <a:ext uri="{FF2B5EF4-FFF2-40B4-BE49-F238E27FC236}">
                <a16:creationId xmlns:a16="http://schemas.microsoft.com/office/drawing/2014/main" id="{F5EBD67D-79A4-1779-6E21-A822D1CFB01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1BA970C-28EC-F46E-30EA-2F0039EA0EA2}"/>
              </a:ext>
            </a:extLst>
          </p:cNvPr>
          <p:cNvSpPr>
            <a:spLocks noGrp="1"/>
          </p:cNvSpPr>
          <p:nvPr>
            <p:ph type="sldNum" sz="quarter" idx="12"/>
          </p:nvPr>
        </p:nvSpPr>
        <p:spPr/>
        <p:txBody>
          <a:bodyPr/>
          <a:lstStyle/>
          <a:p>
            <a:fld id="{A26987D5-AE30-4BAF-9B49-87D949EB6BB6}" type="slidenum">
              <a:rPr lang="en-IN" smtClean="0"/>
              <a:t>‹#›</a:t>
            </a:fld>
            <a:endParaRPr lang="en-IN"/>
          </a:p>
        </p:txBody>
      </p:sp>
    </p:spTree>
    <p:extLst>
      <p:ext uri="{BB962C8B-B14F-4D97-AF65-F5344CB8AC3E}">
        <p14:creationId xmlns:p14="http://schemas.microsoft.com/office/powerpoint/2010/main" val="1846717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0EEC0-31E1-439C-714F-04C5E4D1738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F1951CE-B461-1EEA-FD67-762D81D60C30}"/>
              </a:ext>
            </a:extLst>
          </p:cNvPr>
          <p:cNvSpPr>
            <a:spLocks noGrp="1"/>
          </p:cNvSpPr>
          <p:nvPr>
            <p:ph type="dt" sz="half" idx="10"/>
          </p:nvPr>
        </p:nvSpPr>
        <p:spPr/>
        <p:txBody>
          <a:bodyPr/>
          <a:lstStyle/>
          <a:p>
            <a:fld id="{3E6A77F8-1EAB-47CA-A9FC-9FDDB4AF10D0}" type="datetimeFigureOut">
              <a:rPr lang="en-IN" smtClean="0"/>
              <a:t>01-02-2026</a:t>
            </a:fld>
            <a:endParaRPr lang="en-IN"/>
          </a:p>
        </p:txBody>
      </p:sp>
      <p:sp>
        <p:nvSpPr>
          <p:cNvPr id="4" name="Footer Placeholder 3">
            <a:extLst>
              <a:ext uri="{FF2B5EF4-FFF2-40B4-BE49-F238E27FC236}">
                <a16:creationId xmlns:a16="http://schemas.microsoft.com/office/drawing/2014/main" id="{2E734A77-99E2-07FF-38C3-97657CDB2CD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59A23BB-40B6-7E93-58AA-DD72E400C209}"/>
              </a:ext>
            </a:extLst>
          </p:cNvPr>
          <p:cNvSpPr>
            <a:spLocks noGrp="1"/>
          </p:cNvSpPr>
          <p:nvPr>
            <p:ph type="sldNum" sz="quarter" idx="12"/>
          </p:nvPr>
        </p:nvSpPr>
        <p:spPr/>
        <p:txBody>
          <a:bodyPr/>
          <a:lstStyle/>
          <a:p>
            <a:fld id="{A26987D5-AE30-4BAF-9B49-87D949EB6BB6}" type="slidenum">
              <a:rPr lang="en-IN" smtClean="0"/>
              <a:t>‹#›</a:t>
            </a:fld>
            <a:endParaRPr lang="en-IN"/>
          </a:p>
        </p:txBody>
      </p:sp>
    </p:spTree>
    <p:extLst>
      <p:ext uri="{BB962C8B-B14F-4D97-AF65-F5344CB8AC3E}">
        <p14:creationId xmlns:p14="http://schemas.microsoft.com/office/powerpoint/2010/main" val="3761047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D13007-FD7C-178F-054A-C499BE8F863D}"/>
              </a:ext>
            </a:extLst>
          </p:cNvPr>
          <p:cNvSpPr>
            <a:spLocks noGrp="1"/>
          </p:cNvSpPr>
          <p:nvPr>
            <p:ph type="dt" sz="half" idx="10"/>
          </p:nvPr>
        </p:nvSpPr>
        <p:spPr/>
        <p:txBody>
          <a:bodyPr/>
          <a:lstStyle/>
          <a:p>
            <a:fld id="{3E6A77F8-1EAB-47CA-A9FC-9FDDB4AF10D0}" type="datetimeFigureOut">
              <a:rPr lang="en-IN" smtClean="0"/>
              <a:t>01-02-2026</a:t>
            </a:fld>
            <a:endParaRPr lang="en-IN"/>
          </a:p>
        </p:txBody>
      </p:sp>
      <p:sp>
        <p:nvSpPr>
          <p:cNvPr id="3" name="Footer Placeholder 2">
            <a:extLst>
              <a:ext uri="{FF2B5EF4-FFF2-40B4-BE49-F238E27FC236}">
                <a16:creationId xmlns:a16="http://schemas.microsoft.com/office/drawing/2014/main" id="{5CB44392-F5F0-DD11-958C-2C68CACA34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E73D010-CD66-6847-3F4D-E46ED15B9E56}"/>
              </a:ext>
            </a:extLst>
          </p:cNvPr>
          <p:cNvSpPr>
            <a:spLocks noGrp="1"/>
          </p:cNvSpPr>
          <p:nvPr>
            <p:ph type="sldNum" sz="quarter" idx="12"/>
          </p:nvPr>
        </p:nvSpPr>
        <p:spPr/>
        <p:txBody>
          <a:bodyPr/>
          <a:lstStyle/>
          <a:p>
            <a:fld id="{A26987D5-AE30-4BAF-9B49-87D949EB6BB6}" type="slidenum">
              <a:rPr lang="en-IN" smtClean="0"/>
              <a:t>‹#›</a:t>
            </a:fld>
            <a:endParaRPr lang="en-IN"/>
          </a:p>
        </p:txBody>
      </p:sp>
    </p:spTree>
    <p:extLst>
      <p:ext uri="{BB962C8B-B14F-4D97-AF65-F5344CB8AC3E}">
        <p14:creationId xmlns:p14="http://schemas.microsoft.com/office/powerpoint/2010/main" val="3473513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B80F-CCC8-4999-5508-B6D3769FC7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44CC998-34AB-6E81-8901-B418DDE61F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E84231D-DD4F-8E6B-175B-2C64672F1E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1DFCF5-B9D8-0D88-401C-343BC3528CE3}"/>
              </a:ext>
            </a:extLst>
          </p:cNvPr>
          <p:cNvSpPr>
            <a:spLocks noGrp="1"/>
          </p:cNvSpPr>
          <p:nvPr>
            <p:ph type="dt" sz="half" idx="10"/>
          </p:nvPr>
        </p:nvSpPr>
        <p:spPr/>
        <p:txBody>
          <a:bodyPr/>
          <a:lstStyle/>
          <a:p>
            <a:fld id="{3E6A77F8-1EAB-47CA-A9FC-9FDDB4AF10D0}" type="datetimeFigureOut">
              <a:rPr lang="en-IN" smtClean="0"/>
              <a:t>01-02-2026</a:t>
            </a:fld>
            <a:endParaRPr lang="en-IN"/>
          </a:p>
        </p:txBody>
      </p:sp>
      <p:sp>
        <p:nvSpPr>
          <p:cNvPr id="6" name="Footer Placeholder 5">
            <a:extLst>
              <a:ext uri="{FF2B5EF4-FFF2-40B4-BE49-F238E27FC236}">
                <a16:creationId xmlns:a16="http://schemas.microsoft.com/office/drawing/2014/main" id="{52F61C62-57D1-F767-BD5C-F01B692085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3E4536-1A38-30E3-1A88-3F22939F9D8D}"/>
              </a:ext>
            </a:extLst>
          </p:cNvPr>
          <p:cNvSpPr>
            <a:spLocks noGrp="1"/>
          </p:cNvSpPr>
          <p:nvPr>
            <p:ph type="sldNum" sz="quarter" idx="12"/>
          </p:nvPr>
        </p:nvSpPr>
        <p:spPr/>
        <p:txBody>
          <a:bodyPr/>
          <a:lstStyle/>
          <a:p>
            <a:fld id="{A26987D5-AE30-4BAF-9B49-87D949EB6BB6}" type="slidenum">
              <a:rPr lang="en-IN" smtClean="0"/>
              <a:t>‹#›</a:t>
            </a:fld>
            <a:endParaRPr lang="en-IN"/>
          </a:p>
        </p:txBody>
      </p:sp>
    </p:spTree>
    <p:extLst>
      <p:ext uri="{BB962C8B-B14F-4D97-AF65-F5344CB8AC3E}">
        <p14:creationId xmlns:p14="http://schemas.microsoft.com/office/powerpoint/2010/main" val="3600020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D771E-D733-73A0-286F-C5F4511F9E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27441D6-48DF-6D4A-0709-F5A4D2BC7A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5233B1B-B99C-5209-8D00-BAB5F5F34B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2FB765-C877-225A-F449-0B9FC964D879}"/>
              </a:ext>
            </a:extLst>
          </p:cNvPr>
          <p:cNvSpPr>
            <a:spLocks noGrp="1"/>
          </p:cNvSpPr>
          <p:nvPr>
            <p:ph type="dt" sz="half" idx="10"/>
          </p:nvPr>
        </p:nvSpPr>
        <p:spPr/>
        <p:txBody>
          <a:bodyPr/>
          <a:lstStyle/>
          <a:p>
            <a:fld id="{3E6A77F8-1EAB-47CA-A9FC-9FDDB4AF10D0}" type="datetimeFigureOut">
              <a:rPr lang="en-IN" smtClean="0"/>
              <a:t>01-02-2026</a:t>
            </a:fld>
            <a:endParaRPr lang="en-IN"/>
          </a:p>
        </p:txBody>
      </p:sp>
      <p:sp>
        <p:nvSpPr>
          <p:cNvPr id="6" name="Footer Placeholder 5">
            <a:extLst>
              <a:ext uri="{FF2B5EF4-FFF2-40B4-BE49-F238E27FC236}">
                <a16:creationId xmlns:a16="http://schemas.microsoft.com/office/drawing/2014/main" id="{0CB035B5-8F04-27D8-FF95-49F6FEA688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820AB5-B80C-B94B-EBD6-54E45D9F3370}"/>
              </a:ext>
            </a:extLst>
          </p:cNvPr>
          <p:cNvSpPr>
            <a:spLocks noGrp="1"/>
          </p:cNvSpPr>
          <p:nvPr>
            <p:ph type="sldNum" sz="quarter" idx="12"/>
          </p:nvPr>
        </p:nvSpPr>
        <p:spPr/>
        <p:txBody>
          <a:bodyPr/>
          <a:lstStyle/>
          <a:p>
            <a:fld id="{A26987D5-AE30-4BAF-9B49-87D949EB6BB6}" type="slidenum">
              <a:rPr lang="en-IN" smtClean="0"/>
              <a:t>‹#›</a:t>
            </a:fld>
            <a:endParaRPr lang="en-IN"/>
          </a:p>
        </p:txBody>
      </p:sp>
    </p:spTree>
    <p:extLst>
      <p:ext uri="{BB962C8B-B14F-4D97-AF65-F5344CB8AC3E}">
        <p14:creationId xmlns:p14="http://schemas.microsoft.com/office/powerpoint/2010/main" val="453887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626A7-2233-FBF9-A0DB-658E9949F2F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3196A3-3B99-C1AA-6E3D-321EC80255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1107C4-BCB8-6C5B-1B38-8254FD94084A}"/>
              </a:ext>
            </a:extLst>
          </p:cNvPr>
          <p:cNvSpPr>
            <a:spLocks noGrp="1"/>
          </p:cNvSpPr>
          <p:nvPr>
            <p:ph type="dt" sz="half" idx="10"/>
          </p:nvPr>
        </p:nvSpPr>
        <p:spPr/>
        <p:txBody>
          <a:bodyPr/>
          <a:lstStyle/>
          <a:p>
            <a:fld id="{3E6A77F8-1EAB-47CA-A9FC-9FDDB4AF10D0}" type="datetimeFigureOut">
              <a:rPr lang="en-IN" smtClean="0"/>
              <a:t>01-02-2026</a:t>
            </a:fld>
            <a:endParaRPr lang="en-IN"/>
          </a:p>
        </p:txBody>
      </p:sp>
      <p:sp>
        <p:nvSpPr>
          <p:cNvPr id="5" name="Footer Placeholder 4">
            <a:extLst>
              <a:ext uri="{FF2B5EF4-FFF2-40B4-BE49-F238E27FC236}">
                <a16:creationId xmlns:a16="http://schemas.microsoft.com/office/drawing/2014/main" id="{AC4757B4-576E-CD91-574A-71AF2FC6B2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3DC2D2-1AC2-012B-BA5F-BBC720DBE4B9}"/>
              </a:ext>
            </a:extLst>
          </p:cNvPr>
          <p:cNvSpPr>
            <a:spLocks noGrp="1"/>
          </p:cNvSpPr>
          <p:nvPr>
            <p:ph type="sldNum" sz="quarter" idx="12"/>
          </p:nvPr>
        </p:nvSpPr>
        <p:spPr/>
        <p:txBody>
          <a:bodyPr/>
          <a:lstStyle/>
          <a:p>
            <a:fld id="{A26987D5-AE30-4BAF-9B49-87D949EB6BB6}" type="slidenum">
              <a:rPr lang="en-IN" smtClean="0"/>
              <a:t>‹#›</a:t>
            </a:fld>
            <a:endParaRPr lang="en-IN"/>
          </a:p>
        </p:txBody>
      </p:sp>
    </p:spTree>
    <p:extLst>
      <p:ext uri="{BB962C8B-B14F-4D97-AF65-F5344CB8AC3E}">
        <p14:creationId xmlns:p14="http://schemas.microsoft.com/office/powerpoint/2010/main" val="1915081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EC93EC-35DF-5465-A5E7-30E1744E07A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E8CB15-F16B-9E46-0C5D-E6AFBFA6FE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4775EC-A51E-5DCF-C394-B8D41C5DA8B0}"/>
              </a:ext>
            </a:extLst>
          </p:cNvPr>
          <p:cNvSpPr>
            <a:spLocks noGrp="1"/>
          </p:cNvSpPr>
          <p:nvPr>
            <p:ph type="dt" sz="half" idx="10"/>
          </p:nvPr>
        </p:nvSpPr>
        <p:spPr/>
        <p:txBody>
          <a:bodyPr/>
          <a:lstStyle/>
          <a:p>
            <a:fld id="{3E6A77F8-1EAB-47CA-A9FC-9FDDB4AF10D0}" type="datetimeFigureOut">
              <a:rPr lang="en-IN" smtClean="0"/>
              <a:t>01-02-2026</a:t>
            </a:fld>
            <a:endParaRPr lang="en-IN"/>
          </a:p>
        </p:txBody>
      </p:sp>
      <p:sp>
        <p:nvSpPr>
          <p:cNvPr id="5" name="Footer Placeholder 4">
            <a:extLst>
              <a:ext uri="{FF2B5EF4-FFF2-40B4-BE49-F238E27FC236}">
                <a16:creationId xmlns:a16="http://schemas.microsoft.com/office/drawing/2014/main" id="{F77890CE-1202-95AE-952A-02FA647514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51DF50-1959-5007-2B99-A17AFBF284CB}"/>
              </a:ext>
            </a:extLst>
          </p:cNvPr>
          <p:cNvSpPr>
            <a:spLocks noGrp="1"/>
          </p:cNvSpPr>
          <p:nvPr>
            <p:ph type="sldNum" sz="quarter" idx="12"/>
          </p:nvPr>
        </p:nvSpPr>
        <p:spPr/>
        <p:txBody>
          <a:bodyPr/>
          <a:lstStyle/>
          <a:p>
            <a:fld id="{A26987D5-AE30-4BAF-9B49-87D949EB6BB6}" type="slidenum">
              <a:rPr lang="en-IN" smtClean="0"/>
              <a:t>‹#›</a:t>
            </a:fld>
            <a:endParaRPr lang="en-IN"/>
          </a:p>
        </p:txBody>
      </p:sp>
    </p:spTree>
    <p:extLst>
      <p:ext uri="{BB962C8B-B14F-4D97-AF65-F5344CB8AC3E}">
        <p14:creationId xmlns:p14="http://schemas.microsoft.com/office/powerpoint/2010/main" val="3770645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8000" b="-8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5A8B7C-B8F4-CD6E-EB98-297DB40499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934506-746F-3672-D4D0-7E577C9611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BA9E42-72FA-FF2D-4C2F-762B6D59EF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6A77F8-1EAB-47CA-A9FC-9FDDB4AF10D0}" type="datetimeFigureOut">
              <a:rPr lang="en-IN" smtClean="0"/>
              <a:t>01-02-2026</a:t>
            </a:fld>
            <a:endParaRPr lang="en-IN"/>
          </a:p>
        </p:txBody>
      </p:sp>
      <p:sp>
        <p:nvSpPr>
          <p:cNvPr id="5" name="Footer Placeholder 4">
            <a:extLst>
              <a:ext uri="{FF2B5EF4-FFF2-40B4-BE49-F238E27FC236}">
                <a16:creationId xmlns:a16="http://schemas.microsoft.com/office/drawing/2014/main" id="{CF449879-E09B-545C-D645-D459B98CEA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43BCED0-F823-5E58-54DA-4A24A991CB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6987D5-AE30-4BAF-9B49-87D949EB6BB6}" type="slidenum">
              <a:rPr lang="en-IN" smtClean="0"/>
              <a:t>‹#›</a:t>
            </a:fld>
            <a:endParaRPr lang="en-IN"/>
          </a:p>
        </p:txBody>
      </p:sp>
    </p:spTree>
    <p:extLst>
      <p:ext uri="{BB962C8B-B14F-4D97-AF65-F5344CB8AC3E}">
        <p14:creationId xmlns:p14="http://schemas.microsoft.com/office/powerpoint/2010/main" val="391825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hyperlink" Target="https://www.kaggle.com/datasets/rabieelkharoua/predicting-manufacturing-defects-dataset"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E935D0-0173-5B84-25C2-BAE2942A45E0}"/>
              </a:ext>
            </a:extLst>
          </p:cNvPr>
          <p:cNvSpPr txBox="1"/>
          <p:nvPr/>
        </p:nvSpPr>
        <p:spPr>
          <a:xfrm>
            <a:off x="0" y="700357"/>
            <a:ext cx="12192000" cy="5324535"/>
          </a:xfrm>
          <a:prstGeom prst="rect">
            <a:avLst/>
          </a:prstGeom>
          <a:noFill/>
        </p:spPr>
        <p:txBody>
          <a:bodyPr wrap="square" rtlCol="0">
            <a:spAutoFit/>
          </a:bodyPr>
          <a:lstStyle/>
          <a:p>
            <a:pPr algn="ctr"/>
            <a:r>
              <a:rPr lang="en-US" sz="4800" b="1" dirty="0">
                <a:solidFill>
                  <a:schemeClr val="bg1"/>
                </a:solidFill>
                <a:latin typeface="Bahnschrift SemiBold Condensed" panose="020B0502040204020203" pitchFamily="34" charset="0"/>
              </a:rPr>
              <a:t>OPTIMIZATION TECHNIQES PRESENTATION</a:t>
            </a:r>
          </a:p>
          <a:p>
            <a:endParaRPr lang="en-US" dirty="0">
              <a:solidFill>
                <a:schemeClr val="bg1"/>
              </a:solidFill>
            </a:endParaRPr>
          </a:p>
          <a:p>
            <a:pPr algn="ctr"/>
            <a:endParaRPr lang="en-US" sz="3600" dirty="0">
              <a:solidFill>
                <a:schemeClr val="bg1"/>
              </a:solidFill>
              <a:latin typeface="Bahnschrift SemiBold Condensed" panose="020B0502040204020203" pitchFamily="34" charset="0"/>
            </a:endParaRPr>
          </a:p>
          <a:p>
            <a:endParaRPr lang="en-US" sz="3600" dirty="0">
              <a:solidFill>
                <a:schemeClr val="bg1"/>
              </a:solidFill>
            </a:endParaRPr>
          </a:p>
          <a:p>
            <a:pPr algn="ctr"/>
            <a:r>
              <a:rPr lang="en-US" sz="2400" b="1" dirty="0">
                <a:solidFill>
                  <a:schemeClr val="accent4">
                    <a:lumMod val="20000"/>
                    <a:lumOff val="80000"/>
                  </a:schemeClr>
                </a:solidFill>
                <a:latin typeface="Arial Black" panose="020B0A04020102020204" pitchFamily="34" charset="0"/>
              </a:rPr>
              <a:t>Real life Problem used: QUALITY CONTROL</a:t>
            </a:r>
            <a:endParaRPr lang="en-US" sz="2400" dirty="0">
              <a:solidFill>
                <a:schemeClr val="bg1"/>
              </a:solidFill>
              <a:latin typeface="Bahnschrift SemiBold Condensed" panose="020B0502040204020203" pitchFamily="34" charset="0"/>
            </a:endParaRPr>
          </a:p>
          <a:p>
            <a:pPr algn="ctr"/>
            <a:r>
              <a:rPr lang="en-US" sz="5400" dirty="0">
                <a:solidFill>
                  <a:schemeClr val="bg1"/>
                </a:solidFill>
                <a:latin typeface="Bahnschrift SemiBold Condensed" panose="020B0502040204020203" pitchFamily="34" charset="0"/>
              </a:rPr>
              <a:t>MINIMIZING DEFECT RATE IN MANUFACTURING</a:t>
            </a:r>
          </a:p>
          <a:p>
            <a:pPr algn="ctr"/>
            <a:endParaRPr lang="en-US" sz="3600" dirty="0">
              <a:solidFill>
                <a:schemeClr val="bg1"/>
              </a:solidFill>
              <a:latin typeface="Bahnschrift SemiBold Condensed" panose="020B0502040204020203" pitchFamily="34" charset="0"/>
            </a:endParaRPr>
          </a:p>
          <a:p>
            <a:pPr algn="ctr"/>
            <a:r>
              <a:rPr lang="en-US" sz="3600" dirty="0">
                <a:solidFill>
                  <a:schemeClr val="bg1"/>
                </a:solidFill>
                <a:latin typeface="Bahnschrift SemiBold Condensed" panose="020B0502040204020203" pitchFamily="34" charset="0"/>
              </a:rPr>
              <a:t>APPLICATION OF GOLDEN-SECTION &amp; STEEPEST DESCENT METHODS</a:t>
            </a:r>
            <a:endParaRPr lang="en-US" sz="1200" dirty="0">
              <a:solidFill>
                <a:schemeClr val="bg1"/>
              </a:solidFill>
              <a:latin typeface="Bahnschrift SemiBold Condensed" panose="020B0502040204020203" pitchFamily="34" charset="0"/>
            </a:endParaRPr>
          </a:p>
          <a:p>
            <a:pPr algn="ctr"/>
            <a:endParaRPr lang="en-US" sz="1200" dirty="0">
              <a:solidFill>
                <a:schemeClr val="bg1"/>
              </a:solidFill>
              <a:latin typeface="Bahnschrift SemiBold Condensed" panose="020B0502040204020203" pitchFamily="34" charset="0"/>
            </a:endParaRPr>
          </a:p>
          <a:p>
            <a:pPr algn="ctr"/>
            <a:endParaRPr lang="en-US" sz="2000" dirty="0">
              <a:solidFill>
                <a:schemeClr val="bg1"/>
              </a:solidFill>
              <a:latin typeface="Bahnschrift SemiBold Condensed" panose="020B0502040204020203" pitchFamily="34" charset="0"/>
            </a:endParaRPr>
          </a:p>
          <a:p>
            <a:pPr algn="ctr"/>
            <a:endParaRPr lang="en-US" sz="2000" dirty="0">
              <a:solidFill>
                <a:schemeClr val="bg1"/>
              </a:solidFill>
              <a:latin typeface="Bahnschrift SemiBold Condensed" panose="020B0502040204020203" pitchFamily="34" charset="0"/>
            </a:endParaRPr>
          </a:p>
        </p:txBody>
      </p:sp>
    </p:spTree>
    <p:extLst>
      <p:ext uri="{BB962C8B-B14F-4D97-AF65-F5344CB8AC3E}">
        <p14:creationId xmlns:p14="http://schemas.microsoft.com/office/powerpoint/2010/main" val="1077070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4E8E70-C49C-0B26-D640-26716FE2D7B6}"/>
              </a:ext>
            </a:extLst>
          </p:cNvPr>
          <p:cNvSpPr txBox="1"/>
          <p:nvPr/>
        </p:nvSpPr>
        <p:spPr>
          <a:xfrm>
            <a:off x="665018" y="623455"/>
            <a:ext cx="10861964" cy="5816977"/>
          </a:xfrm>
          <a:prstGeom prst="rect">
            <a:avLst/>
          </a:prstGeom>
          <a:noFill/>
        </p:spPr>
        <p:txBody>
          <a:bodyPr wrap="square" rtlCol="0">
            <a:spAutoFit/>
          </a:bodyPr>
          <a:lstStyle/>
          <a:p>
            <a:r>
              <a:rPr lang="en-US" sz="2400" b="1" dirty="0">
                <a:solidFill>
                  <a:schemeClr val="accent4">
                    <a:lumMod val="40000"/>
                    <a:lumOff val="60000"/>
                  </a:schemeClr>
                </a:solidFill>
              </a:rPr>
              <a:t>SOURCE OF DATA: </a:t>
            </a:r>
            <a:r>
              <a:rPr lang="en-US" sz="2000" dirty="0">
                <a:solidFill>
                  <a:schemeClr val="accent5">
                    <a:lumMod val="40000"/>
                    <a:lumOff val="60000"/>
                  </a:schemeClr>
                </a:solidFill>
                <a:hlinkClick r:id="rId2">
                  <a:extLst>
                    <a:ext uri="{A12FA001-AC4F-418D-AE19-62706E023703}">
                      <ahyp:hlinkClr xmlns:ahyp="http://schemas.microsoft.com/office/drawing/2018/hyperlinkcolor" val="tx"/>
                    </a:ext>
                  </a:extLst>
                </a:hlinkClick>
              </a:rPr>
              <a:t>https://www.kaggle.com/datasets/rabieelkharoua/predicting-manufacturing-defects-dataset</a:t>
            </a:r>
            <a:endParaRPr lang="en-US" sz="2000" dirty="0">
              <a:solidFill>
                <a:schemeClr val="accent5">
                  <a:lumMod val="40000"/>
                  <a:lumOff val="60000"/>
                </a:schemeClr>
              </a:solidFill>
            </a:endParaRPr>
          </a:p>
          <a:p>
            <a:endParaRPr lang="en-US" sz="2000" dirty="0">
              <a:solidFill>
                <a:schemeClr val="accent4">
                  <a:lumMod val="20000"/>
                  <a:lumOff val="80000"/>
                </a:schemeClr>
              </a:solidFill>
            </a:endParaRPr>
          </a:p>
          <a:p>
            <a:r>
              <a:rPr lang="en-US" sz="2400" b="1" dirty="0">
                <a:solidFill>
                  <a:schemeClr val="accent4">
                    <a:lumMod val="40000"/>
                    <a:lumOff val="60000"/>
                  </a:schemeClr>
                </a:solidFill>
              </a:rPr>
              <a:t>APPLICATIONS:</a:t>
            </a:r>
          </a:p>
          <a:p>
            <a:endParaRPr lang="en-US" sz="2000" dirty="0">
              <a:solidFill>
                <a:schemeClr val="accent4">
                  <a:lumMod val="20000"/>
                  <a:lumOff val="80000"/>
                </a:schemeClr>
              </a:solidFill>
            </a:endParaRPr>
          </a:p>
          <a:p>
            <a:r>
              <a:rPr lang="en-US" sz="2000" dirty="0">
                <a:solidFill>
                  <a:schemeClr val="bg1"/>
                </a:solidFill>
              </a:rPr>
              <a:t>In this project, optimization techniques are applied to Quality Control in a manufacturing process. The goal is to minimize the Defect Rate by adjusting process and maintenance parameters such as Maintenance Hours, Production Volume, Additive Process Time, and Quality Score. Two unconstrained optimization methods are implemented in R to determine the best operating conditions that result in the lowest defect rate:</a:t>
            </a:r>
            <a:br>
              <a:rPr lang="en-US" sz="2000" dirty="0">
                <a:solidFill>
                  <a:schemeClr val="bg1"/>
                </a:solidFill>
              </a:rPr>
            </a:br>
            <a:r>
              <a:rPr lang="en-US" sz="2000" dirty="0">
                <a:solidFill>
                  <a:schemeClr val="bg1"/>
                </a:solidFill>
              </a:rPr>
              <a:t>1. Golden Section Search (single-variable optimization)</a:t>
            </a:r>
            <a:br>
              <a:rPr lang="en-US" sz="2000" dirty="0">
                <a:solidFill>
                  <a:schemeClr val="bg1"/>
                </a:solidFill>
              </a:rPr>
            </a:br>
            <a:r>
              <a:rPr lang="en-US" sz="2000" dirty="0">
                <a:solidFill>
                  <a:schemeClr val="bg1"/>
                </a:solidFill>
              </a:rPr>
              <a:t>2. Steepest Descent Method with Exact Line Search (multi-variable optimization).</a:t>
            </a:r>
            <a:endParaRPr lang="en-IN" sz="2000" dirty="0">
              <a:solidFill>
                <a:schemeClr val="bg1"/>
              </a:solidFill>
            </a:endParaRPr>
          </a:p>
          <a:p>
            <a:endParaRPr lang="en-IN" sz="2000" dirty="0">
              <a:solidFill>
                <a:schemeClr val="accent4">
                  <a:lumMod val="20000"/>
                  <a:lumOff val="80000"/>
                </a:schemeClr>
              </a:solidFill>
            </a:endParaRPr>
          </a:p>
          <a:p>
            <a:r>
              <a:rPr lang="en-IN" sz="2400" b="1" dirty="0">
                <a:solidFill>
                  <a:schemeClr val="accent4">
                    <a:lumMod val="40000"/>
                    <a:lumOff val="60000"/>
                  </a:schemeClr>
                </a:solidFill>
              </a:rPr>
              <a:t>DATA DESCRIPTION:</a:t>
            </a:r>
          </a:p>
          <a:p>
            <a:endParaRPr lang="en-IN" sz="2000" dirty="0">
              <a:solidFill>
                <a:schemeClr val="accent4">
                  <a:lumMod val="20000"/>
                  <a:lumOff val="80000"/>
                </a:schemeClr>
              </a:solidFill>
            </a:endParaRPr>
          </a:p>
          <a:p>
            <a:r>
              <a:rPr lang="en-US" sz="2000" dirty="0">
                <a:solidFill>
                  <a:schemeClr val="bg1"/>
                </a:solidFill>
              </a:rPr>
              <a:t>The dataset, manufacturing_defect_dataset.csv, contains 17 columns representing production, maintenance, energy, and quality-related parameters.</a:t>
            </a:r>
            <a:endParaRPr lang="en-IN" sz="2000" dirty="0">
              <a:solidFill>
                <a:schemeClr val="bg1"/>
              </a:solidFill>
            </a:endParaRPr>
          </a:p>
          <a:p>
            <a:endParaRPr lang="en-IN" sz="2000" dirty="0">
              <a:solidFill>
                <a:schemeClr val="accent4">
                  <a:lumMod val="20000"/>
                  <a:lumOff val="80000"/>
                </a:schemeClr>
              </a:solidFill>
            </a:endParaRPr>
          </a:p>
        </p:txBody>
      </p:sp>
    </p:spTree>
    <p:extLst>
      <p:ext uri="{BB962C8B-B14F-4D97-AF65-F5344CB8AC3E}">
        <p14:creationId xmlns:p14="http://schemas.microsoft.com/office/powerpoint/2010/main" val="238165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Effect transition="in" filter="fade">
                                      <p:cBhvr>
                                        <p:cTn id="15" dur="500"/>
                                        <p:tgtEl>
                                          <p:spTgt spid="2">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xEl>
                                              <p:pRg st="6" end="6"/>
                                            </p:txEl>
                                          </p:spTgt>
                                        </p:tgtEl>
                                        <p:attrNameLst>
                                          <p:attrName>style.visibility</p:attrName>
                                        </p:attrNameLst>
                                      </p:cBhvr>
                                      <p:to>
                                        <p:strVal val="visible"/>
                                      </p:to>
                                    </p:set>
                                    <p:animEffect transition="in" filter="fade">
                                      <p:cBhvr>
                                        <p:cTn id="20" dur="500"/>
                                        <p:tgtEl>
                                          <p:spTgt spid="2">
                                            <p:txEl>
                                              <p:pRg st="6" end="6"/>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animEffect transition="in" filter="fade">
                                      <p:cBhvr>
                                        <p:cTn id="23"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9517E99-0EDA-FE8E-52FB-00F4ADD61772}"/>
              </a:ext>
            </a:extLst>
          </p:cNvPr>
          <p:cNvGraphicFramePr>
            <a:graphicFrameLocks noGrp="1"/>
          </p:cNvGraphicFramePr>
          <p:nvPr>
            <p:extLst>
              <p:ext uri="{D42A27DB-BD31-4B8C-83A1-F6EECF244321}">
                <p14:modId xmlns:p14="http://schemas.microsoft.com/office/powerpoint/2010/main" val="2484032039"/>
              </p:ext>
            </p:extLst>
          </p:nvPr>
        </p:nvGraphicFramePr>
        <p:xfrm>
          <a:off x="865909" y="429489"/>
          <a:ext cx="10460181" cy="5999021"/>
        </p:xfrm>
        <a:graphic>
          <a:graphicData uri="http://schemas.openxmlformats.org/drawingml/2006/table">
            <a:tbl>
              <a:tblPr>
                <a:tableStyleId>{5C22544A-7EE6-4342-B048-85BDC9FD1C3A}</a:tableStyleId>
              </a:tblPr>
              <a:tblGrid>
                <a:gridCol w="2109766">
                  <a:extLst>
                    <a:ext uri="{9D8B030D-6E8A-4147-A177-3AD203B41FA5}">
                      <a16:colId xmlns:a16="http://schemas.microsoft.com/office/drawing/2014/main" val="2453820146"/>
                    </a:ext>
                  </a:extLst>
                </a:gridCol>
                <a:gridCol w="2694826">
                  <a:extLst>
                    <a:ext uri="{9D8B030D-6E8A-4147-A177-3AD203B41FA5}">
                      <a16:colId xmlns:a16="http://schemas.microsoft.com/office/drawing/2014/main" val="302285369"/>
                    </a:ext>
                  </a:extLst>
                </a:gridCol>
                <a:gridCol w="850997">
                  <a:extLst>
                    <a:ext uri="{9D8B030D-6E8A-4147-A177-3AD203B41FA5}">
                      <a16:colId xmlns:a16="http://schemas.microsoft.com/office/drawing/2014/main" val="1599284875"/>
                    </a:ext>
                  </a:extLst>
                </a:gridCol>
                <a:gridCol w="2109766">
                  <a:extLst>
                    <a:ext uri="{9D8B030D-6E8A-4147-A177-3AD203B41FA5}">
                      <a16:colId xmlns:a16="http://schemas.microsoft.com/office/drawing/2014/main" val="2017290355"/>
                    </a:ext>
                  </a:extLst>
                </a:gridCol>
                <a:gridCol w="2694826">
                  <a:extLst>
                    <a:ext uri="{9D8B030D-6E8A-4147-A177-3AD203B41FA5}">
                      <a16:colId xmlns:a16="http://schemas.microsoft.com/office/drawing/2014/main" val="4161691376"/>
                    </a:ext>
                  </a:extLst>
                </a:gridCol>
              </a:tblGrid>
              <a:tr h="181979">
                <a:tc>
                  <a:txBody>
                    <a:bodyPr/>
                    <a:lstStyle/>
                    <a:p>
                      <a:pPr algn="ctr" fontAlgn="ctr">
                        <a:buNone/>
                      </a:pPr>
                      <a:r>
                        <a:rPr lang="en-US" sz="800" u="none" strike="noStrike">
                          <a:effectLst/>
                        </a:rPr>
                        <a:t>Column Name</a:t>
                      </a:r>
                      <a:endParaRPr lang="en-IN" sz="800" b="0" i="0" u="none" strike="noStrike">
                        <a:solidFill>
                          <a:srgbClr val="FFE699"/>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a:effectLst/>
                        </a:rPr>
                        <a:t>Description</a:t>
                      </a:r>
                      <a:endParaRPr lang="en-IN" sz="800" b="0" i="0" u="none" strike="noStrike">
                        <a:solidFill>
                          <a:srgbClr val="FFE699"/>
                        </a:solidFill>
                        <a:effectLst/>
                        <a:latin typeface="Cambria" panose="02040503050406030204" pitchFamily="18" charset="0"/>
                      </a:endParaRPr>
                    </a:p>
                  </a:txBody>
                  <a:tcPr marL="4552" marR="4552" marT="4552" marB="0" anchor="ctr"/>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4552" marR="4552" marT="4552" marB="0" anchor="b"/>
                </a:tc>
                <a:tc>
                  <a:txBody>
                    <a:bodyPr/>
                    <a:lstStyle/>
                    <a:p>
                      <a:pPr algn="ctr" fontAlgn="ctr">
                        <a:buNone/>
                      </a:pPr>
                      <a:r>
                        <a:rPr lang="en-US" sz="800" u="none" strike="noStrike">
                          <a:effectLst/>
                        </a:rPr>
                        <a:t>Column Name</a:t>
                      </a:r>
                      <a:endParaRPr lang="en-IN" sz="800" b="0" i="0" u="none" strike="noStrike">
                        <a:solidFill>
                          <a:srgbClr val="FFE699"/>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a:effectLst/>
                        </a:rPr>
                        <a:t>Description</a:t>
                      </a:r>
                      <a:endParaRPr lang="en-IN" sz="800" b="0" i="0" u="none" strike="noStrike">
                        <a:solidFill>
                          <a:srgbClr val="FFE699"/>
                        </a:solidFill>
                        <a:effectLst/>
                        <a:latin typeface="Cambria" panose="02040503050406030204" pitchFamily="18" charset="0"/>
                      </a:endParaRPr>
                    </a:p>
                  </a:txBody>
                  <a:tcPr marL="4552" marR="4552" marT="4552" marB="0" anchor="ctr"/>
                </a:tc>
                <a:extLst>
                  <a:ext uri="{0D108BD9-81ED-4DB2-BD59-A6C34878D82A}">
                    <a16:rowId xmlns:a16="http://schemas.microsoft.com/office/drawing/2014/main" val="1511582071"/>
                  </a:ext>
                </a:extLst>
              </a:tr>
              <a:tr h="646338">
                <a:tc>
                  <a:txBody>
                    <a:bodyPr/>
                    <a:lstStyle/>
                    <a:p>
                      <a:pPr algn="ctr" fontAlgn="ctr">
                        <a:buNone/>
                      </a:pPr>
                      <a:r>
                        <a:rPr lang="en-US" sz="800" u="none" strike="noStrike">
                          <a:effectLst/>
                        </a:rPr>
                        <a:t>ProductionVolume</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a:effectLst/>
                        </a:rPr>
                        <a:t>Number of units produced during the production cycle.</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4552" marR="4552" marT="4552" marB="0" anchor="b"/>
                </a:tc>
                <a:tc>
                  <a:txBody>
                    <a:bodyPr/>
                    <a:lstStyle/>
                    <a:p>
                      <a:pPr algn="ctr" fontAlgn="ctr">
                        <a:buNone/>
                      </a:pPr>
                      <a:r>
                        <a:rPr lang="en-US" sz="800" u="none" strike="noStrike">
                          <a:effectLst/>
                        </a:rPr>
                        <a:t>StockoutRate</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a:effectLst/>
                        </a:rPr>
                        <a:t>Frequency of inventory shortages during the production cycle.</a:t>
                      </a:r>
                      <a:endParaRPr lang="en-IN" sz="800" b="0" i="0" u="none" strike="noStrike">
                        <a:solidFill>
                          <a:srgbClr val="000000"/>
                        </a:solidFill>
                        <a:effectLst/>
                        <a:latin typeface="Cambria" panose="02040503050406030204" pitchFamily="18" charset="0"/>
                      </a:endParaRPr>
                    </a:p>
                  </a:txBody>
                  <a:tcPr marL="4552" marR="4552" marT="4552" marB="0" anchor="ctr"/>
                </a:tc>
                <a:extLst>
                  <a:ext uri="{0D108BD9-81ED-4DB2-BD59-A6C34878D82A}">
                    <a16:rowId xmlns:a16="http://schemas.microsoft.com/office/drawing/2014/main" val="3530752065"/>
                  </a:ext>
                </a:extLst>
              </a:tr>
              <a:tr h="646338">
                <a:tc>
                  <a:txBody>
                    <a:bodyPr/>
                    <a:lstStyle/>
                    <a:p>
                      <a:pPr algn="ctr" fontAlgn="ctr">
                        <a:buNone/>
                      </a:pPr>
                      <a:r>
                        <a:rPr lang="en-US" sz="800" u="none" strike="noStrike">
                          <a:effectLst/>
                        </a:rPr>
                        <a:t>ProductionCost</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a:effectLst/>
                        </a:rPr>
                        <a:t>Total cost incurred for producing the batch of items.</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4552" marR="4552" marT="4552" marB="0" anchor="b"/>
                </a:tc>
                <a:tc>
                  <a:txBody>
                    <a:bodyPr/>
                    <a:lstStyle/>
                    <a:p>
                      <a:pPr algn="ctr" fontAlgn="ctr">
                        <a:buNone/>
                      </a:pPr>
                      <a:r>
                        <a:rPr lang="en-US" sz="800" u="none" strike="noStrike">
                          <a:effectLst/>
                        </a:rPr>
                        <a:t>WorkerProductivity</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a:effectLst/>
                        </a:rPr>
                        <a:t>Output per worker or per labor hour.</a:t>
                      </a:r>
                      <a:endParaRPr lang="en-IN" sz="800" b="0" i="0" u="none" strike="noStrike">
                        <a:solidFill>
                          <a:srgbClr val="000000"/>
                        </a:solidFill>
                        <a:effectLst/>
                        <a:latin typeface="Cambria" panose="02040503050406030204" pitchFamily="18" charset="0"/>
                      </a:endParaRPr>
                    </a:p>
                  </a:txBody>
                  <a:tcPr marL="4552" marR="4552" marT="4552" marB="0" anchor="ctr"/>
                </a:tc>
                <a:extLst>
                  <a:ext uri="{0D108BD9-81ED-4DB2-BD59-A6C34878D82A}">
                    <a16:rowId xmlns:a16="http://schemas.microsoft.com/office/drawing/2014/main" val="464996542"/>
                  </a:ext>
                </a:extLst>
              </a:tr>
              <a:tr h="646338">
                <a:tc>
                  <a:txBody>
                    <a:bodyPr/>
                    <a:lstStyle/>
                    <a:p>
                      <a:pPr algn="ctr" fontAlgn="ctr">
                        <a:buNone/>
                      </a:pPr>
                      <a:r>
                        <a:rPr lang="en-US" sz="800" u="none" strike="noStrike">
                          <a:effectLst/>
                        </a:rPr>
                        <a:t>SupplierQuality</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a:effectLst/>
                        </a:rPr>
                        <a:t>Quality rating of supplied raw materials (1–10 scale).</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4552" marR="4552" marT="4552" marB="0" anchor="b"/>
                </a:tc>
                <a:tc>
                  <a:txBody>
                    <a:bodyPr/>
                    <a:lstStyle/>
                    <a:p>
                      <a:pPr algn="ctr" fontAlgn="ctr">
                        <a:buNone/>
                      </a:pPr>
                      <a:r>
                        <a:rPr lang="en-US" sz="800" u="none" strike="noStrike">
                          <a:effectLst/>
                        </a:rPr>
                        <a:t>SafetyIncidents</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a:effectLst/>
                        </a:rPr>
                        <a:t>Number of safety-related events recorded.</a:t>
                      </a:r>
                      <a:endParaRPr lang="en-IN" sz="800" b="0" i="0" u="none" strike="noStrike">
                        <a:solidFill>
                          <a:srgbClr val="000000"/>
                        </a:solidFill>
                        <a:effectLst/>
                        <a:latin typeface="Cambria" panose="02040503050406030204" pitchFamily="18" charset="0"/>
                      </a:endParaRPr>
                    </a:p>
                  </a:txBody>
                  <a:tcPr marL="4552" marR="4552" marT="4552" marB="0" anchor="ctr"/>
                </a:tc>
                <a:extLst>
                  <a:ext uri="{0D108BD9-81ED-4DB2-BD59-A6C34878D82A}">
                    <a16:rowId xmlns:a16="http://schemas.microsoft.com/office/drawing/2014/main" val="1876563309"/>
                  </a:ext>
                </a:extLst>
              </a:tr>
              <a:tr h="646338">
                <a:tc>
                  <a:txBody>
                    <a:bodyPr/>
                    <a:lstStyle/>
                    <a:p>
                      <a:pPr algn="ctr" fontAlgn="ctr">
                        <a:buNone/>
                      </a:pPr>
                      <a:r>
                        <a:rPr lang="en-US" sz="800" u="none" strike="noStrike">
                          <a:effectLst/>
                        </a:rPr>
                        <a:t>DeliveryDelay</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a:effectLst/>
                        </a:rPr>
                        <a:t>Average delay (hours or days) in delivery of inputs or outputs.</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4552" marR="4552" marT="4552" marB="0" anchor="b"/>
                </a:tc>
                <a:tc>
                  <a:txBody>
                    <a:bodyPr/>
                    <a:lstStyle/>
                    <a:p>
                      <a:pPr algn="ctr" fontAlgn="ctr">
                        <a:buNone/>
                      </a:pPr>
                      <a:r>
                        <a:rPr lang="en-US" sz="800" u="none" strike="noStrike">
                          <a:effectLst/>
                        </a:rPr>
                        <a:t>EnergyConsumption</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a:effectLst/>
                        </a:rPr>
                        <a:t>Total energy consumed (in kWh) during production.</a:t>
                      </a:r>
                      <a:endParaRPr lang="en-IN" sz="800" b="0" i="0" u="none" strike="noStrike">
                        <a:solidFill>
                          <a:srgbClr val="000000"/>
                        </a:solidFill>
                        <a:effectLst/>
                        <a:latin typeface="Cambria" panose="02040503050406030204" pitchFamily="18" charset="0"/>
                      </a:endParaRPr>
                    </a:p>
                  </a:txBody>
                  <a:tcPr marL="4552" marR="4552" marT="4552" marB="0" anchor="ctr"/>
                </a:tc>
                <a:extLst>
                  <a:ext uri="{0D108BD9-81ED-4DB2-BD59-A6C34878D82A}">
                    <a16:rowId xmlns:a16="http://schemas.microsoft.com/office/drawing/2014/main" val="777710035"/>
                  </a:ext>
                </a:extLst>
              </a:tr>
              <a:tr h="646338">
                <a:tc>
                  <a:txBody>
                    <a:bodyPr/>
                    <a:lstStyle/>
                    <a:p>
                      <a:pPr algn="ctr" fontAlgn="ctr">
                        <a:buNone/>
                      </a:pPr>
                      <a:r>
                        <a:rPr lang="en-US" sz="800" u="none" strike="noStrike">
                          <a:effectLst/>
                        </a:rPr>
                        <a:t>DefectRate</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a:effectLst/>
                        </a:rPr>
                        <a:t>Percentage of defective products identified after production.</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4552" marR="4552" marT="4552" marB="0" anchor="b"/>
                </a:tc>
                <a:tc>
                  <a:txBody>
                    <a:bodyPr/>
                    <a:lstStyle/>
                    <a:p>
                      <a:pPr algn="ctr" fontAlgn="ctr">
                        <a:buNone/>
                      </a:pPr>
                      <a:r>
                        <a:rPr lang="en-US" sz="800" u="none" strike="noStrike">
                          <a:effectLst/>
                        </a:rPr>
                        <a:t>EnergyEfficiency</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a:effectLst/>
                        </a:rPr>
                        <a:t>Ratio of production output to energy consumption.</a:t>
                      </a:r>
                      <a:endParaRPr lang="en-IN" sz="800" b="0" i="0" u="none" strike="noStrike">
                        <a:solidFill>
                          <a:srgbClr val="000000"/>
                        </a:solidFill>
                        <a:effectLst/>
                        <a:latin typeface="Cambria" panose="02040503050406030204" pitchFamily="18" charset="0"/>
                      </a:endParaRPr>
                    </a:p>
                  </a:txBody>
                  <a:tcPr marL="4552" marR="4552" marT="4552" marB="0" anchor="ctr"/>
                </a:tc>
                <a:extLst>
                  <a:ext uri="{0D108BD9-81ED-4DB2-BD59-A6C34878D82A}">
                    <a16:rowId xmlns:a16="http://schemas.microsoft.com/office/drawing/2014/main" val="1749348730"/>
                  </a:ext>
                </a:extLst>
              </a:tr>
              <a:tr h="646338">
                <a:tc>
                  <a:txBody>
                    <a:bodyPr/>
                    <a:lstStyle/>
                    <a:p>
                      <a:pPr algn="ctr" fontAlgn="ctr">
                        <a:buNone/>
                      </a:pPr>
                      <a:r>
                        <a:rPr lang="en-US" sz="800" u="none" strike="noStrike">
                          <a:effectLst/>
                        </a:rPr>
                        <a:t>QualityScore</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a:effectLst/>
                        </a:rPr>
                        <a:t>Overall product quality rating based on inspection parameters.</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4552" marR="4552" marT="4552" marB="0" anchor="b"/>
                </a:tc>
                <a:tc>
                  <a:txBody>
                    <a:bodyPr/>
                    <a:lstStyle/>
                    <a:p>
                      <a:pPr algn="ctr" fontAlgn="ctr">
                        <a:buNone/>
                      </a:pPr>
                      <a:r>
                        <a:rPr lang="en-US" sz="800" u="none" strike="noStrike">
                          <a:effectLst/>
                        </a:rPr>
                        <a:t>AdditiveProcessTime</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a:effectLst/>
                        </a:rPr>
                        <a:t>Time (in minutes or hours) spent on additive manufacturing processes.</a:t>
                      </a:r>
                      <a:endParaRPr lang="en-IN" sz="800" b="0" i="0" u="none" strike="noStrike">
                        <a:solidFill>
                          <a:srgbClr val="000000"/>
                        </a:solidFill>
                        <a:effectLst/>
                        <a:latin typeface="Cambria" panose="02040503050406030204" pitchFamily="18" charset="0"/>
                      </a:endParaRPr>
                    </a:p>
                  </a:txBody>
                  <a:tcPr marL="4552" marR="4552" marT="4552" marB="0" anchor="ctr"/>
                </a:tc>
                <a:extLst>
                  <a:ext uri="{0D108BD9-81ED-4DB2-BD59-A6C34878D82A}">
                    <a16:rowId xmlns:a16="http://schemas.microsoft.com/office/drawing/2014/main" val="989152794"/>
                  </a:ext>
                </a:extLst>
              </a:tr>
              <a:tr h="646338">
                <a:tc>
                  <a:txBody>
                    <a:bodyPr/>
                    <a:lstStyle/>
                    <a:p>
                      <a:pPr algn="ctr" fontAlgn="ctr">
                        <a:buNone/>
                      </a:pPr>
                      <a:r>
                        <a:rPr lang="en-US" sz="800" u="none" strike="noStrike">
                          <a:effectLst/>
                        </a:rPr>
                        <a:t>MaintenanceHours</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a:effectLst/>
                        </a:rPr>
                        <a:t>Number of hours spent on machine maintenance during production.</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4552" marR="4552" marT="4552" marB="0" anchor="b"/>
                </a:tc>
                <a:tc>
                  <a:txBody>
                    <a:bodyPr/>
                    <a:lstStyle/>
                    <a:p>
                      <a:pPr algn="ctr" fontAlgn="ctr">
                        <a:buNone/>
                      </a:pPr>
                      <a:r>
                        <a:rPr lang="en-US" sz="800" u="none" strike="noStrike">
                          <a:effectLst/>
                        </a:rPr>
                        <a:t>AdditiveMaterialCost</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a:effectLst/>
                        </a:rPr>
                        <a:t>Cost of additive manufacturing materials per batch.</a:t>
                      </a:r>
                      <a:endParaRPr lang="en-IN" sz="800" b="0" i="0" u="none" strike="noStrike">
                        <a:solidFill>
                          <a:srgbClr val="000000"/>
                        </a:solidFill>
                        <a:effectLst/>
                        <a:latin typeface="Cambria" panose="02040503050406030204" pitchFamily="18" charset="0"/>
                      </a:endParaRPr>
                    </a:p>
                  </a:txBody>
                  <a:tcPr marL="4552" marR="4552" marT="4552" marB="0" anchor="ctr"/>
                </a:tc>
                <a:extLst>
                  <a:ext uri="{0D108BD9-81ED-4DB2-BD59-A6C34878D82A}">
                    <a16:rowId xmlns:a16="http://schemas.microsoft.com/office/drawing/2014/main" val="2766901562"/>
                  </a:ext>
                </a:extLst>
              </a:tr>
              <a:tr h="646338">
                <a:tc>
                  <a:txBody>
                    <a:bodyPr/>
                    <a:lstStyle/>
                    <a:p>
                      <a:pPr algn="ctr" fontAlgn="ctr">
                        <a:buNone/>
                      </a:pPr>
                      <a:r>
                        <a:rPr lang="en-US" sz="800" u="none" strike="noStrike">
                          <a:effectLst/>
                        </a:rPr>
                        <a:t>DowntimePercentage</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a:effectLst/>
                        </a:rPr>
                        <a:t>Percentage of total production time lost due to maintenance or breakdowns.</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4552" marR="4552" marT="4552" marB="0" anchor="b"/>
                </a:tc>
                <a:tc>
                  <a:txBody>
                    <a:bodyPr/>
                    <a:lstStyle/>
                    <a:p>
                      <a:pPr algn="ctr" fontAlgn="ctr">
                        <a:buNone/>
                      </a:pPr>
                      <a:r>
                        <a:rPr lang="en-US" sz="800" u="none" strike="noStrike">
                          <a:effectLst/>
                        </a:rPr>
                        <a:t>DefectStatus</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a:effectLst/>
                        </a:rPr>
                        <a:t>Indicates whether the product was defective (1) or non-defective (0).</a:t>
                      </a:r>
                      <a:endParaRPr lang="en-IN" sz="800" b="0" i="0" u="none" strike="noStrike">
                        <a:solidFill>
                          <a:srgbClr val="000000"/>
                        </a:solidFill>
                        <a:effectLst/>
                        <a:latin typeface="Cambria" panose="02040503050406030204" pitchFamily="18" charset="0"/>
                      </a:endParaRPr>
                    </a:p>
                  </a:txBody>
                  <a:tcPr marL="4552" marR="4552" marT="4552" marB="0" anchor="ctr"/>
                </a:tc>
                <a:extLst>
                  <a:ext uri="{0D108BD9-81ED-4DB2-BD59-A6C34878D82A}">
                    <a16:rowId xmlns:a16="http://schemas.microsoft.com/office/drawing/2014/main" val="3214209318"/>
                  </a:ext>
                </a:extLst>
              </a:tr>
              <a:tr h="646338">
                <a:tc>
                  <a:txBody>
                    <a:bodyPr/>
                    <a:lstStyle/>
                    <a:p>
                      <a:pPr algn="ctr" fontAlgn="ctr">
                        <a:buNone/>
                      </a:pPr>
                      <a:r>
                        <a:rPr lang="en-US" sz="800" u="none" strike="noStrike">
                          <a:effectLst/>
                        </a:rPr>
                        <a:t>InventoryTurnover</a:t>
                      </a:r>
                      <a:endParaRPr lang="en-IN" sz="800" b="0" i="0" u="none" strike="noStrike">
                        <a:solidFill>
                          <a:srgbClr val="000000"/>
                        </a:solidFill>
                        <a:effectLst/>
                        <a:latin typeface="Cambria" panose="02040503050406030204" pitchFamily="18" charset="0"/>
                      </a:endParaRPr>
                    </a:p>
                  </a:txBody>
                  <a:tcPr marL="4552" marR="4552" marT="4552" marB="0" anchor="ctr"/>
                </a:tc>
                <a:tc>
                  <a:txBody>
                    <a:bodyPr/>
                    <a:lstStyle/>
                    <a:p>
                      <a:pPr algn="ctr" fontAlgn="ctr">
                        <a:buNone/>
                      </a:pPr>
                      <a:r>
                        <a:rPr lang="en-US" sz="800" u="none" strike="noStrike" dirty="0">
                          <a:effectLst/>
                        </a:rPr>
                        <a:t>Ratio of cost of goods sold to average inventory.</a:t>
                      </a:r>
                      <a:endParaRPr lang="en-IN" sz="800" b="0" i="0" u="none" strike="noStrike" dirty="0">
                        <a:solidFill>
                          <a:srgbClr val="000000"/>
                        </a:solidFill>
                        <a:effectLst/>
                        <a:latin typeface="Cambria" panose="02040503050406030204" pitchFamily="18" charset="0"/>
                      </a:endParaRPr>
                    </a:p>
                  </a:txBody>
                  <a:tcPr marL="4552" marR="4552" marT="4552" marB="0" anchor="ctr"/>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4552" marR="4552" marT="4552" marB="0" anchor="b"/>
                </a:tc>
                <a:tc>
                  <a:txBody>
                    <a:bodyPr/>
                    <a:lstStyle/>
                    <a:p>
                      <a:pPr algn="l" fontAlgn="b">
                        <a:buNone/>
                      </a:pPr>
                      <a:endParaRPr lang="en-IN" sz="800" b="0" i="0" u="none" strike="noStrike">
                        <a:solidFill>
                          <a:srgbClr val="000000"/>
                        </a:solidFill>
                        <a:effectLst/>
                        <a:latin typeface="Calibri" panose="020F0502020204030204" pitchFamily="34" charset="0"/>
                      </a:endParaRPr>
                    </a:p>
                  </a:txBody>
                  <a:tcPr marL="4552" marR="4552" marT="4552" marB="0" anchor="b"/>
                </a:tc>
                <a:tc>
                  <a:txBody>
                    <a:bodyPr/>
                    <a:lstStyle/>
                    <a:p>
                      <a:pPr algn="l" fontAlgn="b">
                        <a:buNone/>
                      </a:pPr>
                      <a:endParaRPr lang="en-IN" sz="800" b="0" i="0" u="none" strike="noStrike" dirty="0">
                        <a:solidFill>
                          <a:srgbClr val="000000"/>
                        </a:solidFill>
                        <a:effectLst/>
                        <a:latin typeface="Calibri" panose="020F0502020204030204" pitchFamily="34" charset="0"/>
                      </a:endParaRPr>
                    </a:p>
                  </a:txBody>
                  <a:tcPr marL="4552" marR="4552" marT="4552" marB="0" anchor="b"/>
                </a:tc>
                <a:extLst>
                  <a:ext uri="{0D108BD9-81ED-4DB2-BD59-A6C34878D82A}">
                    <a16:rowId xmlns:a16="http://schemas.microsoft.com/office/drawing/2014/main" val="1624666715"/>
                  </a:ext>
                </a:extLst>
              </a:tr>
            </a:tbl>
          </a:graphicData>
        </a:graphic>
      </p:graphicFrame>
    </p:spTree>
    <p:extLst>
      <p:ext uri="{BB962C8B-B14F-4D97-AF65-F5344CB8AC3E}">
        <p14:creationId xmlns:p14="http://schemas.microsoft.com/office/powerpoint/2010/main" val="918138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19EC03-8D30-9A46-3630-BE50610EDA96}"/>
              </a:ext>
            </a:extLst>
          </p:cNvPr>
          <p:cNvSpPr txBox="1"/>
          <p:nvPr/>
        </p:nvSpPr>
        <p:spPr>
          <a:xfrm>
            <a:off x="635620" y="646771"/>
            <a:ext cx="10192214" cy="2400657"/>
          </a:xfrm>
          <a:prstGeom prst="rect">
            <a:avLst/>
          </a:prstGeom>
          <a:noFill/>
        </p:spPr>
        <p:txBody>
          <a:bodyPr wrap="square" rtlCol="0">
            <a:spAutoFit/>
          </a:bodyPr>
          <a:lstStyle/>
          <a:p>
            <a:r>
              <a:rPr lang="en-US" sz="2400" b="1" dirty="0">
                <a:solidFill>
                  <a:schemeClr val="accent4">
                    <a:lumMod val="40000"/>
                    <a:lumOff val="60000"/>
                  </a:schemeClr>
                </a:solidFill>
              </a:rPr>
              <a:t>CHOICE OF RESPONSE AND PREDICTORS:</a:t>
            </a:r>
          </a:p>
          <a:p>
            <a:endParaRPr lang="en-US" dirty="0">
              <a:solidFill>
                <a:schemeClr val="accent4">
                  <a:lumMod val="20000"/>
                  <a:lumOff val="80000"/>
                </a:schemeClr>
              </a:solidFill>
            </a:endParaRPr>
          </a:p>
          <a:p>
            <a:pPr marL="285750" indent="-285750">
              <a:buFont typeface="Arial" panose="020B0604020202020204" pitchFamily="34" charset="0"/>
              <a:buChar char="•"/>
            </a:pPr>
            <a:r>
              <a:rPr lang="en-US" dirty="0">
                <a:solidFill>
                  <a:schemeClr val="bg1"/>
                </a:solidFill>
              </a:rPr>
              <a:t>Response variable under study: </a:t>
            </a:r>
            <a:r>
              <a:rPr lang="en-US" b="1" dirty="0">
                <a:solidFill>
                  <a:schemeClr val="bg1"/>
                </a:solidFill>
              </a:rPr>
              <a:t>“Defect Rate”</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To choose the predictor variables, we implement the </a:t>
            </a:r>
            <a:r>
              <a:rPr lang="en-US" u="sng" dirty="0">
                <a:solidFill>
                  <a:schemeClr val="bg1"/>
                </a:solidFill>
              </a:rPr>
              <a:t>BEST SUBSET SELECTION METHOD</a:t>
            </a:r>
          </a:p>
          <a:p>
            <a:endParaRPr lang="en-US" dirty="0">
              <a:solidFill>
                <a:schemeClr val="accent4">
                  <a:lumMod val="20000"/>
                  <a:lumOff val="80000"/>
                </a:schemeClr>
              </a:solidFill>
            </a:endParaRPr>
          </a:p>
          <a:p>
            <a:r>
              <a:rPr lang="en-US" b="1" dirty="0">
                <a:solidFill>
                  <a:schemeClr val="accent6">
                    <a:lumMod val="40000"/>
                    <a:lumOff val="60000"/>
                  </a:schemeClr>
                </a:solidFill>
              </a:rPr>
              <a:t>Result from best subset selection:</a:t>
            </a:r>
          </a:p>
          <a:p>
            <a:endParaRPr lang="en-IN" dirty="0">
              <a:solidFill>
                <a:schemeClr val="accent4">
                  <a:lumMod val="20000"/>
                  <a:lumOff val="80000"/>
                </a:schemeClr>
              </a:solidFill>
            </a:endParaRPr>
          </a:p>
        </p:txBody>
      </p:sp>
      <p:pic>
        <p:nvPicPr>
          <p:cNvPr id="3" name="Picture 2">
            <a:extLst>
              <a:ext uri="{FF2B5EF4-FFF2-40B4-BE49-F238E27FC236}">
                <a16:creationId xmlns:a16="http://schemas.microsoft.com/office/drawing/2014/main" id="{7C1C5B28-E697-CFEE-4D92-48B128B1B3DD}"/>
              </a:ext>
            </a:extLst>
          </p:cNvPr>
          <p:cNvPicPr>
            <a:picLocks noChangeAspect="1"/>
          </p:cNvPicPr>
          <p:nvPr/>
        </p:nvPicPr>
        <p:blipFill>
          <a:blip r:embed="rId2"/>
          <a:stretch>
            <a:fillRect/>
          </a:stretch>
        </p:blipFill>
        <p:spPr>
          <a:xfrm>
            <a:off x="1011044" y="2999422"/>
            <a:ext cx="10255814" cy="1606032"/>
          </a:xfrm>
          <a:prstGeom prst="rect">
            <a:avLst/>
          </a:prstGeom>
        </p:spPr>
      </p:pic>
      <p:sp>
        <p:nvSpPr>
          <p:cNvPr id="4" name="TextBox 3">
            <a:extLst>
              <a:ext uri="{FF2B5EF4-FFF2-40B4-BE49-F238E27FC236}">
                <a16:creationId xmlns:a16="http://schemas.microsoft.com/office/drawing/2014/main" id="{6E9B4646-4FF9-93E9-6EE6-4A0E04959686}"/>
              </a:ext>
            </a:extLst>
          </p:cNvPr>
          <p:cNvSpPr txBox="1"/>
          <p:nvPr/>
        </p:nvSpPr>
        <p:spPr>
          <a:xfrm>
            <a:off x="780586" y="5018049"/>
            <a:ext cx="10649414" cy="646331"/>
          </a:xfrm>
          <a:prstGeom prst="rect">
            <a:avLst/>
          </a:prstGeom>
          <a:noFill/>
        </p:spPr>
        <p:txBody>
          <a:bodyPr wrap="square" rtlCol="0">
            <a:spAutoFit/>
          </a:bodyPr>
          <a:lstStyle/>
          <a:p>
            <a:r>
              <a:rPr lang="en-US" dirty="0">
                <a:solidFill>
                  <a:schemeClr val="bg1"/>
                </a:solidFill>
              </a:rPr>
              <a:t>Among these 6 variables which are selected, “</a:t>
            </a:r>
            <a:r>
              <a:rPr lang="en-US" dirty="0" err="1">
                <a:solidFill>
                  <a:schemeClr val="bg1"/>
                </a:solidFill>
              </a:rPr>
              <a:t>DefectStatus</a:t>
            </a:r>
            <a:r>
              <a:rPr lang="en-US" dirty="0">
                <a:solidFill>
                  <a:schemeClr val="bg1"/>
                </a:solidFill>
              </a:rPr>
              <a:t>” is qualitative variable so it is not included in this analysis. We only consider the quantitative predictors that can be used in numerical optimization. </a:t>
            </a:r>
            <a:endParaRPr lang="en-IN" dirty="0">
              <a:solidFill>
                <a:schemeClr val="bg1"/>
              </a:solidFill>
            </a:endParaRPr>
          </a:p>
        </p:txBody>
      </p:sp>
    </p:spTree>
    <p:extLst>
      <p:ext uri="{BB962C8B-B14F-4D97-AF65-F5344CB8AC3E}">
        <p14:creationId xmlns:p14="http://schemas.microsoft.com/office/powerpoint/2010/main" val="3688892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fade">
                                      <p:cBhvr>
                                        <p:cTn id="10" dur="500"/>
                                        <p:tgtEl>
                                          <p:spTgt spid="2">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fade">
                                      <p:cBhvr>
                                        <p:cTn id="13" dur="500"/>
                                        <p:tgtEl>
                                          <p:spTgt spid="2">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
                                            <p:txEl>
                                              <p:pRg st="6" end="6"/>
                                            </p:txEl>
                                          </p:spTgt>
                                        </p:tgtEl>
                                        <p:attrNameLst>
                                          <p:attrName>style.visibility</p:attrName>
                                        </p:attrNameLst>
                                      </p:cBhvr>
                                      <p:to>
                                        <p:strVal val="visible"/>
                                      </p:to>
                                    </p:set>
                                    <p:anim calcmode="lin" valueType="num">
                                      <p:cBhvr additive="base">
                                        <p:cTn id="18"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ppt_x"/>
                                          </p:val>
                                        </p:tav>
                                        <p:tav tm="100000">
                                          <p:val>
                                            <p:strVal val="#ppt_x"/>
                                          </p:val>
                                        </p:tav>
                                      </p:tavLst>
                                    </p:anim>
                                    <p:anim calcmode="lin" valueType="num">
                                      <p:cBhvr additive="base">
                                        <p:cTn id="3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BF1AA7-F075-B53B-F11A-D7F6AEE3E44D}"/>
              </a:ext>
            </a:extLst>
          </p:cNvPr>
          <p:cNvSpPr txBox="1"/>
          <p:nvPr/>
        </p:nvSpPr>
        <p:spPr>
          <a:xfrm>
            <a:off x="624468" y="477046"/>
            <a:ext cx="9813073" cy="584775"/>
          </a:xfrm>
          <a:prstGeom prst="rect">
            <a:avLst/>
          </a:prstGeom>
          <a:noFill/>
        </p:spPr>
        <p:txBody>
          <a:bodyPr wrap="square" rtlCol="0">
            <a:spAutoFit/>
          </a:bodyPr>
          <a:lstStyle/>
          <a:p>
            <a:r>
              <a:rPr lang="en-IN" sz="3200" b="1" u="sng" dirty="0">
                <a:solidFill>
                  <a:schemeClr val="accent4">
                    <a:lumMod val="40000"/>
                    <a:lumOff val="60000"/>
                  </a:schemeClr>
                </a:solidFill>
              </a:rPr>
              <a:t>GOLDEN SECTION METHOD</a:t>
            </a:r>
          </a:p>
        </p:txBody>
      </p:sp>
      <p:sp>
        <p:nvSpPr>
          <p:cNvPr id="3" name="TextBox 2">
            <a:extLst>
              <a:ext uri="{FF2B5EF4-FFF2-40B4-BE49-F238E27FC236}">
                <a16:creationId xmlns:a16="http://schemas.microsoft.com/office/drawing/2014/main" id="{B1BB47A9-D873-A1AF-DCCC-A736F91AE286}"/>
              </a:ext>
            </a:extLst>
          </p:cNvPr>
          <p:cNvSpPr txBox="1"/>
          <p:nvPr/>
        </p:nvSpPr>
        <p:spPr>
          <a:xfrm>
            <a:off x="624468" y="1527717"/>
            <a:ext cx="5051503" cy="4524315"/>
          </a:xfrm>
          <a:prstGeom prst="rect">
            <a:avLst/>
          </a:prstGeom>
          <a:noFill/>
        </p:spPr>
        <p:txBody>
          <a:bodyPr wrap="square" rtlCol="0">
            <a:spAutoFit/>
          </a:bodyPr>
          <a:lstStyle/>
          <a:p>
            <a:pPr marL="285750" lvl="0" indent="-285750">
              <a:buFont typeface="Arial" panose="020B0604020202020204" pitchFamily="34" charset="0"/>
              <a:buChar char="•"/>
            </a:pPr>
            <a:r>
              <a:rPr lang="en-US" dirty="0">
                <a:solidFill>
                  <a:schemeClr val="bg1"/>
                </a:solidFill>
              </a:rPr>
              <a:t>The Golden Section Search Method is a derivative-free optimization technique used to find the minimum or maximum of a unimodal function within a specified interval.</a:t>
            </a:r>
            <a:endParaRPr lang="en-IN" dirty="0">
              <a:solidFill>
                <a:schemeClr val="bg1"/>
              </a:solidFill>
            </a:endParaRPr>
          </a:p>
          <a:p>
            <a:pPr marL="285750" lvl="0" indent="-285750">
              <a:buFont typeface="Arial" panose="020B0604020202020204" pitchFamily="34" charset="0"/>
              <a:buChar char="•"/>
            </a:pPr>
            <a:r>
              <a:rPr lang="en-US" dirty="0">
                <a:solidFill>
                  <a:schemeClr val="bg1"/>
                </a:solidFill>
              </a:rPr>
              <a:t>It uses the golden ratio (≈ 0.618) to divide the interval optimally, evaluating the function at two interior points and eliminating the region that cannot contain the extremum.</a:t>
            </a:r>
            <a:endParaRPr lang="en-IN" dirty="0">
              <a:solidFill>
                <a:schemeClr val="bg1"/>
              </a:solidFill>
            </a:endParaRPr>
          </a:p>
          <a:p>
            <a:pPr marL="285750" lvl="0" indent="-285750">
              <a:buFont typeface="Arial" panose="020B0604020202020204" pitchFamily="34" charset="0"/>
              <a:buChar char="•"/>
            </a:pPr>
            <a:r>
              <a:rPr lang="en-US" dirty="0">
                <a:solidFill>
                  <a:schemeClr val="bg1"/>
                </a:solidFill>
              </a:rPr>
              <a:t>The process is repeated iteratively until the interval becomes sufficiently small, ensuring convergence to the optimal solution.</a:t>
            </a:r>
            <a:endParaRPr lang="en-IN" dirty="0">
              <a:solidFill>
                <a:schemeClr val="bg1"/>
              </a:solidFill>
            </a:endParaRPr>
          </a:p>
          <a:p>
            <a:pPr marL="285750" lvl="0" indent="-285750">
              <a:buFont typeface="Arial" panose="020B0604020202020204" pitchFamily="34" charset="0"/>
              <a:buChar char="•"/>
            </a:pPr>
            <a:r>
              <a:rPr lang="en-US" dirty="0">
                <a:solidFill>
                  <a:schemeClr val="bg1"/>
                </a:solidFill>
              </a:rPr>
              <a:t>This method is particularly effective for one-dimensional optimization problems.</a:t>
            </a:r>
          </a:p>
          <a:p>
            <a:pPr marL="285750" lvl="0" indent="-285750">
              <a:buFont typeface="Arial" panose="020B0604020202020204" pitchFamily="34" charset="0"/>
              <a:buChar char="•"/>
            </a:pPr>
            <a:r>
              <a:rPr lang="en-US" dirty="0">
                <a:solidFill>
                  <a:schemeClr val="bg1"/>
                </a:solidFill>
              </a:rPr>
              <a:t>It is valued for its simplicity, stability, and robustness, though it is slower compared to gradient-based methods.</a:t>
            </a:r>
            <a:endParaRPr lang="en-IN" dirty="0">
              <a:solidFill>
                <a:schemeClr val="bg1"/>
              </a:solidFill>
            </a:endParaRPr>
          </a:p>
        </p:txBody>
      </p:sp>
      <p:sp>
        <p:nvSpPr>
          <p:cNvPr id="4" name="TextBox 3">
            <a:extLst>
              <a:ext uri="{FF2B5EF4-FFF2-40B4-BE49-F238E27FC236}">
                <a16:creationId xmlns:a16="http://schemas.microsoft.com/office/drawing/2014/main" id="{49133083-CD36-B09D-772C-41360F516E83}"/>
              </a:ext>
            </a:extLst>
          </p:cNvPr>
          <p:cNvSpPr txBox="1"/>
          <p:nvPr/>
        </p:nvSpPr>
        <p:spPr>
          <a:xfrm>
            <a:off x="5913864" y="373554"/>
            <a:ext cx="5757747" cy="3416320"/>
          </a:xfrm>
          <a:prstGeom prst="rect">
            <a:avLst/>
          </a:prstGeom>
          <a:noFill/>
          <a:ln>
            <a:solidFill>
              <a:schemeClr val="accent5">
                <a:lumMod val="40000"/>
                <a:lumOff val="60000"/>
              </a:schemeClr>
            </a:solidFill>
          </a:ln>
        </p:spPr>
        <p:txBody>
          <a:bodyPr wrap="square" rtlCol="0">
            <a:spAutoFit/>
          </a:bodyPr>
          <a:lstStyle/>
          <a:p>
            <a:r>
              <a:rPr lang="en-IN" dirty="0">
                <a:solidFill>
                  <a:schemeClr val="bg1"/>
                </a:solidFill>
              </a:rPr>
              <a:t>Since this is an univariate approach, we take the most important predictor “</a:t>
            </a:r>
            <a:r>
              <a:rPr lang="en-IN" dirty="0" err="1">
                <a:solidFill>
                  <a:schemeClr val="bg1"/>
                </a:solidFill>
              </a:rPr>
              <a:t>MaintenanceHours</a:t>
            </a:r>
            <a:r>
              <a:rPr lang="en-IN" dirty="0">
                <a:solidFill>
                  <a:schemeClr val="bg1"/>
                </a:solidFill>
              </a:rPr>
              <a:t>”, and regress “</a:t>
            </a:r>
            <a:r>
              <a:rPr lang="en-IN" dirty="0" err="1">
                <a:solidFill>
                  <a:schemeClr val="bg1"/>
                </a:solidFill>
              </a:rPr>
              <a:t>DefectRate</a:t>
            </a:r>
            <a:r>
              <a:rPr lang="en-IN" dirty="0">
                <a:solidFill>
                  <a:schemeClr val="bg1"/>
                </a:solidFill>
              </a:rPr>
              <a:t>” on “</a:t>
            </a:r>
            <a:r>
              <a:rPr lang="en-IN" dirty="0" err="1">
                <a:solidFill>
                  <a:schemeClr val="bg1"/>
                </a:solidFill>
              </a:rPr>
              <a:t>MaintanenceHours</a:t>
            </a:r>
            <a:r>
              <a:rPr lang="en-IN" dirty="0">
                <a:solidFill>
                  <a:schemeClr val="bg1"/>
                </a:solidFill>
              </a:rPr>
              <a:t>” to get the objective function.</a:t>
            </a:r>
          </a:p>
          <a:p>
            <a:endParaRPr lang="en-IN" dirty="0">
              <a:solidFill>
                <a:schemeClr val="bg1"/>
              </a:solidFill>
            </a:endParaRPr>
          </a:p>
          <a:p>
            <a:r>
              <a:rPr lang="en-IN" dirty="0">
                <a:solidFill>
                  <a:schemeClr val="bg1"/>
                </a:solidFill>
              </a:rPr>
              <a:t>Here the objective is to minimize the following objective function:</a:t>
            </a:r>
          </a:p>
          <a:p>
            <a:r>
              <a:rPr lang="en-US" dirty="0">
                <a:solidFill>
                  <a:schemeClr val="bg1"/>
                </a:solidFill>
              </a:rPr>
              <a:t>                       f(x) = a + bx + cx²</a:t>
            </a:r>
          </a:p>
          <a:p>
            <a:r>
              <a:rPr lang="en-US" dirty="0">
                <a:solidFill>
                  <a:schemeClr val="bg1"/>
                </a:solidFill>
              </a:rPr>
              <a:t>Where x is “</a:t>
            </a:r>
            <a:r>
              <a:rPr lang="en-US" dirty="0" err="1">
                <a:solidFill>
                  <a:schemeClr val="bg1"/>
                </a:solidFill>
              </a:rPr>
              <a:t>MaintenanceHours</a:t>
            </a:r>
            <a:r>
              <a:rPr lang="en-US" dirty="0">
                <a:solidFill>
                  <a:schemeClr val="bg1"/>
                </a:solidFill>
              </a:rPr>
              <a:t>” and f(x) is the corresponding value of </a:t>
            </a:r>
            <a:r>
              <a:rPr lang="en-US" dirty="0" err="1">
                <a:solidFill>
                  <a:schemeClr val="bg1"/>
                </a:solidFill>
              </a:rPr>
              <a:t>DefectRate</a:t>
            </a:r>
            <a:r>
              <a:rPr lang="en-US" dirty="0">
                <a:solidFill>
                  <a:schemeClr val="bg1"/>
                </a:solidFill>
              </a:rPr>
              <a:t>, and,</a:t>
            </a:r>
          </a:p>
          <a:p>
            <a:r>
              <a:rPr lang="en-US" dirty="0" err="1">
                <a:solidFill>
                  <a:schemeClr val="bg1"/>
                </a:solidFill>
              </a:rPr>
              <a:t>a,b,c</a:t>
            </a:r>
            <a:r>
              <a:rPr lang="en-US" dirty="0">
                <a:solidFill>
                  <a:schemeClr val="bg1"/>
                </a:solidFill>
              </a:rPr>
              <a:t> are coefficients obtained by fitting the regression model.</a:t>
            </a:r>
            <a:endParaRPr lang="en-IN" dirty="0">
              <a:solidFill>
                <a:schemeClr val="bg1"/>
              </a:solidFill>
            </a:endParaRPr>
          </a:p>
        </p:txBody>
      </p:sp>
      <p:sp>
        <p:nvSpPr>
          <p:cNvPr id="5" name="TextBox 4">
            <a:extLst>
              <a:ext uri="{FF2B5EF4-FFF2-40B4-BE49-F238E27FC236}">
                <a16:creationId xmlns:a16="http://schemas.microsoft.com/office/drawing/2014/main" id="{73DB10BB-AC18-150F-C0D0-350C7EF8BB44}"/>
              </a:ext>
            </a:extLst>
          </p:cNvPr>
          <p:cNvSpPr txBox="1"/>
          <p:nvPr/>
        </p:nvSpPr>
        <p:spPr>
          <a:xfrm>
            <a:off x="5913864" y="3978768"/>
            <a:ext cx="5653668" cy="646331"/>
          </a:xfrm>
          <a:prstGeom prst="rect">
            <a:avLst/>
          </a:prstGeom>
          <a:noFill/>
        </p:spPr>
        <p:txBody>
          <a:bodyPr wrap="square" rtlCol="0">
            <a:spAutoFit/>
          </a:bodyPr>
          <a:lstStyle/>
          <a:p>
            <a:pPr marL="285750" indent="-285750">
              <a:buFont typeface="Wingdings" panose="05000000000000000000" pitchFamily="2" charset="2"/>
              <a:buChar char="q"/>
            </a:pPr>
            <a:r>
              <a:rPr lang="en-IN" b="1" dirty="0">
                <a:solidFill>
                  <a:schemeClr val="accent5">
                    <a:lumMod val="40000"/>
                    <a:lumOff val="60000"/>
                  </a:schemeClr>
                </a:solidFill>
              </a:rPr>
              <a:t>WHY MAINTENANCE HOURS IS CHOSEN AS THE MOST IMPORTANT PREDICTOR?</a:t>
            </a:r>
          </a:p>
        </p:txBody>
      </p:sp>
      <p:sp>
        <p:nvSpPr>
          <p:cNvPr id="6" name="TextBox 5">
            <a:extLst>
              <a:ext uri="{FF2B5EF4-FFF2-40B4-BE49-F238E27FC236}">
                <a16:creationId xmlns:a16="http://schemas.microsoft.com/office/drawing/2014/main" id="{EE4FBCC0-5597-1DCC-33D8-FAD66B2B7748}"/>
              </a:ext>
            </a:extLst>
          </p:cNvPr>
          <p:cNvSpPr txBox="1"/>
          <p:nvPr/>
        </p:nvSpPr>
        <p:spPr>
          <a:xfrm>
            <a:off x="5913863" y="4625099"/>
            <a:ext cx="5757747" cy="2031325"/>
          </a:xfrm>
          <a:prstGeom prst="rect">
            <a:avLst/>
          </a:prstGeom>
          <a:noFill/>
        </p:spPr>
        <p:txBody>
          <a:bodyPr wrap="square" rtlCol="0">
            <a:spAutoFit/>
          </a:bodyPr>
          <a:lstStyle/>
          <a:p>
            <a:r>
              <a:rPr lang="en-US" dirty="0">
                <a:solidFill>
                  <a:schemeClr val="bg1"/>
                </a:solidFill>
              </a:rPr>
              <a:t>On fitting the </a:t>
            </a:r>
            <a:r>
              <a:rPr lang="en-US" b="1" dirty="0">
                <a:solidFill>
                  <a:schemeClr val="bg1"/>
                </a:solidFill>
              </a:rPr>
              <a:t>quadratic regression model</a:t>
            </a:r>
            <a:r>
              <a:rPr lang="en-US" dirty="0">
                <a:solidFill>
                  <a:schemeClr val="bg1"/>
                </a:solidFill>
              </a:rPr>
              <a:t> for </a:t>
            </a:r>
            <a:r>
              <a:rPr lang="en-US" dirty="0" err="1">
                <a:solidFill>
                  <a:schemeClr val="bg1"/>
                </a:solidFill>
              </a:rPr>
              <a:t>DefectRate</a:t>
            </a:r>
            <a:r>
              <a:rPr lang="en-US" dirty="0">
                <a:solidFill>
                  <a:schemeClr val="bg1"/>
                </a:solidFill>
              </a:rPr>
              <a:t> on the other predictors, summary of the fitted model shows:</a:t>
            </a:r>
          </a:p>
          <a:p>
            <a:endParaRPr lang="en-US" dirty="0">
              <a:solidFill>
                <a:schemeClr val="bg1"/>
              </a:solidFill>
            </a:endParaRPr>
          </a:p>
          <a:p>
            <a:pPr marL="285750" indent="-285750">
              <a:buFont typeface="Wingdings" panose="05000000000000000000" pitchFamily="2" charset="2"/>
              <a:buChar char="Ø"/>
            </a:pPr>
            <a:r>
              <a:rPr lang="en-IN" dirty="0" err="1">
                <a:solidFill>
                  <a:schemeClr val="bg1"/>
                </a:solidFill>
              </a:rPr>
              <a:t>MaintenanceHours</a:t>
            </a:r>
            <a:r>
              <a:rPr lang="en-IN" dirty="0">
                <a:solidFill>
                  <a:schemeClr val="bg1"/>
                </a:solidFill>
              </a:rPr>
              <a:t> has the </a:t>
            </a:r>
            <a:r>
              <a:rPr lang="en-IN" b="1" dirty="0">
                <a:solidFill>
                  <a:schemeClr val="bg1"/>
                </a:solidFill>
              </a:rPr>
              <a:t>largest absolute coefficient</a:t>
            </a:r>
          </a:p>
          <a:p>
            <a:pPr marL="285750" indent="-285750">
              <a:buFont typeface="Wingdings" panose="05000000000000000000" pitchFamily="2" charset="2"/>
              <a:buChar char="Ø"/>
            </a:pPr>
            <a:r>
              <a:rPr lang="en-US" b="1" dirty="0">
                <a:solidFill>
                  <a:schemeClr val="bg1"/>
                </a:solidFill>
              </a:rPr>
              <a:t>strong curvature (significant quadratic term)</a:t>
            </a:r>
            <a:r>
              <a:rPr lang="en-US" dirty="0">
                <a:solidFill>
                  <a:schemeClr val="bg1"/>
                </a:solidFill>
              </a:rPr>
              <a:t> indicating a clear optimum point</a:t>
            </a:r>
            <a:endParaRPr lang="en-IN" b="1" dirty="0">
              <a:solidFill>
                <a:schemeClr val="bg1"/>
              </a:solidFill>
            </a:endParaRPr>
          </a:p>
          <a:p>
            <a:endParaRPr lang="en-IN" dirty="0"/>
          </a:p>
        </p:txBody>
      </p:sp>
    </p:spTree>
    <p:extLst>
      <p:ext uri="{BB962C8B-B14F-4D97-AF65-F5344CB8AC3E}">
        <p14:creationId xmlns:p14="http://schemas.microsoft.com/office/powerpoint/2010/main" val="434644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Vertic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1D2ECF-92FC-4AF9-526E-EFB65D2E4BAB}"/>
              </a:ext>
            </a:extLst>
          </p:cNvPr>
          <p:cNvSpPr txBox="1"/>
          <p:nvPr/>
        </p:nvSpPr>
        <p:spPr>
          <a:xfrm>
            <a:off x="379140" y="211874"/>
            <a:ext cx="5887845" cy="6740307"/>
          </a:xfrm>
          <a:prstGeom prst="rect">
            <a:avLst/>
          </a:prstGeom>
          <a:noFill/>
        </p:spPr>
        <p:txBody>
          <a:bodyPr wrap="square" rtlCol="0">
            <a:spAutoFit/>
          </a:bodyPr>
          <a:lstStyle/>
          <a:p>
            <a:r>
              <a:rPr lang="en-US" b="1" u="sng" dirty="0">
                <a:solidFill>
                  <a:schemeClr val="bg1"/>
                </a:solidFill>
              </a:rPr>
              <a:t>Algorithm Steps:</a:t>
            </a:r>
          </a:p>
          <a:p>
            <a:endParaRPr lang="en-IN" b="1" dirty="0">
              <a:solidFill>
                <a:schemeClr val="bg1"/>
              </a:solidFill>
            </a:endParaRPr>
          </a:p>
          <a:p>
            <a:pPr lvl="0"/>
            <a:r>
              <a:rPr lang="en-US" dirty="0">
                <a:solidFill>
                  <a:schemeClr val="bg1"/>
                </a:solidFill>
              </a:rPr>
              <a:t>1. Choose an initial interval [a, b] based on range of x variable.</a:t>
            </a:r>
          </a:p>
          <a:p>
            <a:pPr lvl="0"/>
            <a:endParaRPr lang="en-IN" dirty="0">
              <a:solidFill>
                <a:schemeClr val="bg1"/>
              </a:solidFill>
            </a:endParaRPr>
          </a:p>
          <a:p>
            <a:pPr lvl="0"/>
            <a:r>
              <a:rPr lang="en-US" dirty="0">
                <a:solidFill>
                  <a:schemeClr val="bg1"/>
                </a:solidFill>
              </a:rPr>
              <a:t>2. Compute α₁ = a + (1-φ)(b - a) and </a:t>
            </a:r>
          </a:p>
          <a:p>
            <a:pPr lvl="0"/>
            <a:r>
              <a:rPr lang="en-US" dirty="0">
                <a:solidFill>
                  <a:schemeClr val="bg1"/>
                </a:solidFill>
              </a:rPr>
              <a:t>α₂ = a + φ(b - a); where φ=0.618 (golden ratio).</a:t>
            </a:r>
          </a:p>
          <a:p>
            <a:pPr lvl="0"/>
            <a:endParaRPr lang="en-IN" dirty="0">
              <a:solidFill>
                <a:schemeClr val="bg1"/>
              </a:solidFill>
            </a:endParaRPr>
          </a:p>
          <a:p>
            <a:pPr lvl="0"/>
            <a:r>
              <a:rPr lang="en-US" dirty="0">
                <a:solidFill>
                  <a:schemeClr val="bg1"/>
                </a:solidFill>
              </a:rPr>
              <a:t>3. Evaluate f(</a:t>
            </a:r>
            <a:r>
              <a:rPr lang="el-GR" dirty="0">
                <a:solidFill>
                  <a:schemeClr val="bg1"/>
                </a:solidFill>
              </a:rPr>
              <a:t>α</a:t>
            </a:r>
            <a:r>
              <a:rPr lang="en-US" dirty="0">
                <a:solidFill>
                  <a:schemeClr val="bg1"/>
                </a:solidFill>
              </a:rPr>
              <a:t>₁) and f</a:t>
            </a:r>
            <a:r>
              <a:rPr lang="en-IN" dirty="0">
                <a:solidFill>
                  <a:schemeClr val="bg1"/>
                </a:solidFill>
              </a:rPr>
              <a:t>(</a:t>
            </a:r>
            <a:r>
              <a:rPr lang="el-GR" dirty="0">
                <a:solidFill>
                  <a:schemeClr val="bg1"/>
                </a:solidFill>
              </a:rPr>
              <a:t>α</a:t>
            </a:r>
            <a:r>
              <a:rPr lang="en-US" dirty="0">
                <a:solidFill>
                  <a:schemeClr val="bg1"/>
                </a:solidFill>
              </a:rPr>
              <a:t>₂).</a:t>
            </a:r>
          </a:p>
          <a:p>
            <a:pPr lvl="0"/>
            <a:endParaRPr lang="en-US" dirty="0">
              <a:solidFill>
                <a:schemeClr val="bg1"/>
              </a:solidFill>
            </a:endParaRPr>
          </a:p>
          <a:p>
            <a:pPr lvl="0"/>
            <a:r>
              <a:rPr lang="en-US" dirty="0">
                <a:solidFill>
                  <a:schemeClr val="bg1"/>
                </a:solidFill>
              </a:rPr>
              <a:t>4. If f(</a:t>
            </a:r>
            <a:r>
              <a:rPr lang="el-GR" dirty="0">
                <a:solidFill>
                  <a:schemeClr val="bg1"/>
                </a:solidFill>
              </a:rPr>
              <a:t>α</a:t>
            </a:r>
            <a:r>
              <a:rPr lang="en-US" dirty="0">
                <a:solidFill>
                  <a:schemeClr val="bg1"/>
                </a:solidFill>
              </a:rPr>
              <a:t>₁) ≤ f</a:t>
            </a:r>
            <a:r>
              <a:rPr lang="en-IN" dirty="0">
                <a:solidFill>
                  <a:schemeClr val="bg1"/>
                </a:solidFill>
              </a:rPr>
              <a:t>(</a:t>
            </a:r>
            <a:r>
              <a:rPr lang="el-GR" dirty="0">
                <a:solidFill>
                  <a:schemeClr val="bg1"/>
                </a:solidFill>
              </a:rPr>
              <a:t>α</a:t>
            </a:r>
            <a:r>
              <a:rPr lang="en-US" dirty="0">
                <a:solidFill>
                  <a:schemeClr val="bg1"/>
                </a:solidFill>
              </a:rPr>
              <a:t>₂), new interval will be [a,</a:t>
            </a:r>
            <a:r>
              <a:rPr lang="el-GR" dirty="0">
                <a:solidFill>
                  <a:schemeClr val="bg1"/>
                </a:solidFill>
              </a:rPr>
              <a:t> α</a:t>
            </a:r>
            <a:r>
              <a:rPr lang="en-US" dirty="0">
                <a:solidFill>
                  <a:schemeClr val="bg1"/>
                </a:solidFill>
              </a:rPr>
              <a:t>₂], otherwise the new interval will be [</a:t>
            </a:r>
            <a:r>
              <a:rPr lang="el-GR" dirty="0">
                <a:solidFill>
                  <a:schemeClr val="bg1"/>
                </a:solidFill>
              </a:rPr>
              <a:t>α</a:t>
            </a:r>
            <a:r>
              <a:rPr lang="en-US" dirty="0">
                <a:solidFill>
                  <a:schemeClr val="bg1"/>
                </a:solidFill>
              </a:rPr>
              <a:t>₁,b].</a:t>
            </a:r>
          </a:p>
          <a:p>
            <a:pPr lvl="0"/>
            <a:endParaRPr lang="en-IN" dirty="0">
              <a:solidFill>
                <a:schemeClr val="bg1"/>
              </a:solidFill>
            </a:endParaRPr>
          </a:p>
          <a:p>
            <a:pPr lvl="0"/>
            <a:r>
              <a:rPr lang="en-US" dirty="0">
                <a:solidFill>
                  <a:schemeClr val="bg1"/>
                </a:solidFill>
              </a:rPr>
              <a:t>5. Now take this new range and again repeat the aforementioned steps.</a:t>
            </a:r>
          </a:p>
          <a:p>
            <a:pPr lvl="0"/>
            <a:endParaRPr lang="en-US" dirty="0">
              <a:solidFill>
                <a:schemeClr val="bg1"/>
              </a:solidFill>
            </a:endParaRPr>
          </a:p>
          <a:p>
            <a:pPr lvl="0"/>
            <a:r>
              <a:rPr lang="en-US" dirty="0">
                <a:solidFill>
                  <a:schemeClr val="bg1"/>
                </a:solidFill>
              </a:rPr>
              <a:t>6. Repeat the process by narrowing the interval by discarding the subinterval with the higher function value at each step until </a:t>
            </a:r>
          </a:p>
          <a:p>
            <a:pPr lvl="0"/>
            <a:r>
              <a:rPr lang="en-US" dirty="0">
                <a:solidFill>
                  <a:schemeClr val="bg1"/>
                </a:solidFill>
              </a:rPr>
              <a:t>|b - a| ≤ tolerance (predefined).</a:t>
            </a:r>
          </a:p>
          <a:p>
            <a:pPr lvl="0"/>
            <a:endParaRPr lang="en-US" dirty="0">
              <a:solidFill>
                <a:schemeClr val="bg1"/>
              </a:solidFill>
            </a:endParaRPr>
          </a:p>
          <a:p>
            <a:pPr lvl="0"/>
            <a:r>
              <a:rPr lang="en-US" dirty="0">
                <a:solidFill>
                  <a:schemeClr val="bg1"/>
                </a:solidFill>
              </a:rPr>
              <a:t>7. Denote the final a and b as a* and b* respectively. The final minimizer is given as (a*+b*)/2   </a:t>
            </a:r>
            <a:endParaRPr lang="en-IN" dirty="0">
              <a:solidFill>
                <a:schemeClr val="bg1"/>
              </a:solidFill>
            </a:endParaRPr>
          </a:p>
          <a:p>
            <a:endParaRPr lang="en-IN" dirty="0">
              <a:solidFill>
                <a:schemeClr val="bg1"/>
              </a:solidFill>
            </a:endParaRPr>
          </a:p>
        </p:txBody>
      </p:sp>
      <p:pic>
        <p:nvPicPr>
          <p:cNvPr id="4" name="Picture 3">
            <a:extLst>
              <a:ext uri="{FF2B5EF4-FFF2-40B4-BE49-F238E27FC236}">
                <a16:creationId xmlns:a16="http://schemas.microsoft.com/office/drawing/2014/main" id="{10FADFA7-7DA7-DC23-CE24-7BC66EF213DC}"/>
              </a:ext>
            </a:extLst>
          </p:cNvPr>
          <p:cNvPicPr>
            <a:picLocks noChangeAspect="1"/>
          </p:cNvPicPr>
          <p:nvPr/>
        </p:nvPicPr>
        <p:blipFill>
          <a:blip r:embed="rId2"/>
          <a:stretch>
            <a:fillRect/>
          </a:stretch>
        </p:blipFill>
        <p:spPr>
          <a:xfrm>
            <a:off x="6266985" y="1898048"/>
            <a:ext cx="5598066" cy="1530952"/>
          </a:xfrm>
          <a:prstGeom prst="rect">
            <a:avLst/>
          </a:prstGeom>
        </p:spPr>
      </p:pic>
      <p:sp>
        <p:nvSpPr>
          <p:cNvPr id="5" name="TextBox 4">
            <a:extLst>
              <a:ext uri="{FF2B5EF4-FFF2-40B4-BE49-F238E27FC236}">
                <a16:creationId xmlns:a16="http://schemas.microsoft.com/office/drawing/2014/main" id="{23813A14-62F6-546C-B1B0-269EB9FA5EDF}"/>
              </a:ext>
            </a:extLst>
          </p:cNvPr>
          <p:cNvSpPr txBox="1"/>
          <p:nvPr/>
        </p:nvSpPr>
        <p:spPr>
          <a:xfrm>
            <a:off x="7872876" y="1111887"/>
            <a:ext cx="2386284" cy="461665"/>
          </a:xfrm>
          <a:prstGeom prst="rect">
            <a:avLst/>
          </a:prstGeom>
          <a:noFill/>
        </p:spPr>
        <p:txBody>
          <a:bodyPr wrap="square" rtlCol="0">
            <a:spAutoFit/>
          </a:bodyPr>
          <a:lstStyle/>
          <a:p>
            <a:r>
              <a:rPr lang="en-IN" sz="2400" b="1" dirty="0">
                <a:solidFill>
                  <a:schemeClr val="bg1"/>
                </a:solidFill>
              </a:rPr>
              <a:t>Results obtained:</a:t>
            </a:r>
          </a:p>
        </p:txBody>
      </p:sp>
      <p:sp>
        <p:nvSpPr>
          <p:cNvPr id="6" name="TextBox 5">
            <a:extLst>
              <a:ext uri="{FF2B5EF4-FFF2-40B4-BE49-F238E27FC236}">
                <a16:creationId xmlns:a16="http://schemas.microsoft.com/office/drawing/2014/main" id="{CAC09129-3202-AC22-2DBC-D52344644741}"/>
              </a:ext>
            </a:extLst>
          </p:cNvPr>
          <p:cNvSpPr txBox="1"/>
          <p:nvPr/>
        </p:nvSpPr>
        <p:spPr>
          <a:xfrm>
            <a:off x="7103403" y="4215161"/>
            <a:ext cx="3925229" cy="1477328"/>
          </a:xfrm>
          <a:prstGeom prst="rect">
            <a:avLst/>
          </a:prstGeom>
          <a:noFill/>
          <a:ln>
            <a:solidFill>
              <a:schemeClr val="accent1">
                <a:lumMod val="20000"/>
                <a:lumOff val="80000"/>
              </a:schemeClr>
            </a:solidFill>
          </a:ln>
        </p:spPr>
        <p:txBody>
          <a:bodyPr wrap="square" rtlCol="0">
            <a:spAutoFit/>
          </a:bodyPr>
          <a:lstStyle/>
          <a:p>
            <a:r>
              <a:rPr lang="en-IN" b="1" dirty="0">
                <a:solidFill>
                  <a:schemeClr val="bg1"/>
                </a:solidFill>
              </a:rPr>
              <a:t>It converged in 32 iterations.</a:t>
            </a:r>
          </a:p>
          <a:p>
            <a:endParaRPr lang="en-IN" b="1" dirty="0">
              <a:solidFill>
                <a:schemeClr val="bg1"/>
              </a:solidFill>
            </a:endParaRPr>
          </a:p>
          <a:p>
            <a:r>
              <a:rPr lang="en-IN" b="1" dirty="0">
                <a:solidFill>
                  <a:schemeClr val="bg1"/>
                </a:solidFill>
              </a:rPr>
              <a:t>Optimal maintenance hours = 13.09536</a:t>
            </a:r>
          </a:p>
          <a:p>
            <a:endParaRPr lang="en-IN" b="1" dirty="0">
              <a:solidFill>
                <a:schemeClr val="bg1"/>
              </a:solidFill>
            </a:endParaRPr>
          </a:p>
          <a:p>
            <a:r>
              <a:rPr lang="en-IN" b="1" dirty="0">
                <a:solidFill>
                  <a:schemeClr val="bg1"/>
                </a:solidFill>
              </a:rPr>
              <a:t>Minimum Defect Rate = 2.72478</a:t>
            </a:r>
          </a:p>
        </p:txBody>
      </p:sp>
    </p:spTree>
    <p:extLst>
      <p:ext uri="{BB962C8B-B14F-4D97-AF65-F5344CB8AC3E}">
        <p14:creationId xmlns:p14="http://schemas.microsoft.com/office/powerpoint/2010/main" val="2313352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par>
                                <p:cTn id="13" presetID="16" presetClass="entr" presetSubtype="21"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arn(inVertical)">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F75F824-6CE3-C6F9-2584-876CAEC4E0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9033" y="1337682"/>
            <a:ext cx="9433933" cy="4762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E1B27AC-0BB1-F323-A692-CA2FBD2D7484}"/>
              </a:ext>
            </a:extLst>
          </p:cNvPr>
          <p:cNvSpPr txBox="1"/>
          <p:nvPr/>
        </p:nvSpPr>
        <p:spPr>
          <a:xfrm>
            <a:off x="1379034" y="568247"/>
            <a:ext cx="9433932" cy="400110"/>
          </a:xfrm>
          <a:prstGeom prst="rect">
            <a:avLst/>
          </a:prstGeom>
          <a:noFill/>
        </p:spPr>
        <p:txBody>
          <a:bodyPr wrap="square" rtlCol="0">
            <a:spAutoFit/>
          </a:bodyPr>
          <a:lstStyle/>
          <a:p>
            <a:pPr algn="ctr"/>
            <a:r>
              <a:rPr lang="en-IN" sz="2000" b="1" dirty="0">
                <a:solidFill>
                  <a:schemeClr val="bg1"/>
                </a:solidFill>
              </a:rPr>
              <a:t>VISUAL REPRESENTATION OF CONVERGENCE THROUGH GOLDEN SECTION METHOD</a:t>
            </a:r>
          </a:p>
        </p:txBody>
      </p:sp>
    </p:spTree>
    <p:extLst>
      <p:ext uri="{BB962C8B-B14F-4D97-AF65-F5344CB8AC3E}">
        <p14:creationId xmlns:p14="http://schemas.microsoft.com/office/powerpoint/2010/main" val="3896956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9A714-A0B9-90FE-D925-94EC00ABC0A0}"/>
              </a:ext>
            </a:extLst>
          </p:cNvPr>
          <p:cNvSpPr txBox="1"/>
          <p:nvPr/>
        </p:nvSpPr>
        <p:spPr>
          <a:xfrm>
            <a:off x="624468" y="477046"/>
            <a:ext cx="9813073" cy="584775"/>
          </a:xfrm>
          <a:prstGeom prst="rect">
            <a:avLst/>
          </a:prstGeom>
          <a:noFill/>
        </p:spPr>
        <p:txBody>
          <a:bodyPr wrap="square" rtlCol="0">
            <a:spAutoFit/>
          </a:bodyPr>
          <a:lstStyle/>
          <a:p>
            <a:r>
              <a:rPr lang="en-IN" sz="3200" b="1" u="sng" dirty="0">
                <a:solidFill>
                  <a:schemeClr val="accent4">
                    <a:lumMod val="40000"/>
                    <a:lumOff val="60000"/>
                  </a:schemeClr>
                </a:solidFill>
              </a:rPr>
              <a:t>STEEPEST DESCENT METHOD</a:t>
            </a:r>
          </a:p>
        </p:txBody>
      </p:sp>
      <p:sp>
        <p:nvSpPr>
          <p:cNvPr id="3" name="TextBox 2">
            <a:extLst>
              <a:ext uri="{FF2B5EF4-FFF2-40B4-BE49-F238E27FC236}">
                <a16:creationId xmlns:a16="http://schemas.microsoft.com/office/drawing/2014/main" id="{E9931C35-8B19-E3D1-CE5E-3636BC8184FC}"/>
              </a:ext>
            </a:extLst>
          </p:cNvPr>
          <p:cNvSpPr txBox="1"/>
          <p:nvPr/>
        </p:nvSpPr>
        <p:spPr>
          <a:xfrm>
            <a:off x="624468" y="1527717"/>
            <a:ext cx="5051503" cy="4524315"/>
          </a:xfrm>
          <a:prstGeom prst="rect">
            <a:avLst/>
          </a:prstGeom>
          <a:noFill/>
        </p:spPr>
        <p:txBody>
          <a:bodyPr wrap="square" rtlCol="0">
            <a:spAutoFit/>
          </a:bodyPr>
          <a:lstStyle/>
          <a:p>
            <a:pPr marL="285750" lvl="0" indent="-285750">
              <a:buFont typeface="Arial" panose="020B0604020202020204" pitchFamily="34" charset="0"/>
              <a:buChar char="•"/>
            </a:pPr>
            <a:r>
              <a:rPr lang="en-US" dirty="0">
                <a:solidFill>
                  <a:schemeClr val="bg1"/>
                </a:solidFill>
              </a:rPr>
              <a:t>The Steepest Descent Method is a gradient-based optimization algorithm used for minimizing differentiable multivariable functions.</a:t>
            </a:r>
            <a:endParaRPr lang="en-IN" dirty="0">
              <a:solidFill>
                <a:schemeClr val="bg1"/>
              </a:solidFill>
            </a:endParaRPr>
          </a:p>
          <a:p>
            <a:pPr marL="285750" lvl="0" indent="-285750">
              <a:buFont typeface="Arial" panose="020B0604020202020204" pitchFamily="34" charset="0"/>
              <a:buChar char="•"/>
            </a:pPr>
            <a:r>
              <a:rPr lang="en-US" dirty="0">
                <a:solidFill>
                  <a:schemeClr val="bg1"/>
                </a:solidFill>
              </a:rPr>
              <a:t>It iteratively moves in the direction opposite to the gradient, as this direction represents the steepest decrease in function value.</a:t>
            </a:r>
            <a:endParaRPr lang="en-IN" dirty="0">
              <a:solidFill>
                <a:schemeClr val="bg1"/>
              </a:solidFill>
            </a:endParaRPr>
          </a:p>
          <a:p>
            <a:pPr marL="285750" lvl="0" indent="-285750">
              <a:buFont typeface="Arial" panose="020B0604020202020204" pitchFamily="34" charset="0"/>
              <a:buChar char="•"/>
            </a:pPr>
            <a:r>
              <a:rPr lang="en-US" dirty="0">
                <a:solidFill>
                  <a:schemeClr val="bg1"/>
                </a:solidFill>
              </a:rPr>
              <a:t>At each step, the parameters are updated using a suitable step size (learning rate), continuing until the gradient magnitude becomes negligible.</a:t>
            </a:r>
            <a:endParaRPr lang="en-IN" dirty="0">
              <a:solidFill>
                <a:schemeClr val="bg1"/>
              </a:solidFill>
            </a:endParaRPr>
          </a:p>
          <a:p>
            <a:pPr marL="285750" lvl="0" indent="-285750">
              <a:buFont typeface="Arial" panose="020B0604020202020204" pitchFamily="34" charset="0"/>
              <a:buChar char="•"/>
            </a:pPr>
            <a:r>
              <a:rPr lang="en-US" dirty="0">
                <a:solidFill>
                  <a:schemeClr val="bg1"/>
                </a:solidFill>
              </a:rPr>
              <a:t>The method performs well for smooth and convex functions, but may converge slowly in cases of ill-conditioning or narrow valleys.</a:t>
            </a:r>
          </a:p>
          <a:p>
            <a:pPr marL="285750" indent="-285750">
              <a:buFont typeface="Arial" panose="020B0604020202020204" pitchFamily="34" charset="0"/>
              <a:buChar char="•"/>
            </a:pPr>
            <a:r>
              <a:rPr lang="en-US" dirty="0">
                <a:solidFill>
                  <a:schemeClr val="bg1"/>
                </a:solidFill>
              </a:rPr>
              <a:t>To improve efficiency and stability, line search techniques or adaptive step-size methods are often applied.</a:t>
            </a:r>
            <a:endParaRPr lang="en-IN" dirty="0">
              <a:solidFill>
                <a:schemeClr val="bg1"/>
              </a:solidFill>
            </a:endParaRPr>
          </a:p>
          <a:p>
            <a:pPr marL="285750" lvl="0" indent="-285750">
              <a:buFont typeface="Arial" panose="020B0604020202020204" pitchFamily="34" charset="0"/>
              <a:buChar char="•"/>
            </a:pPr>
            <a:endParaRPr lang="en-IN" dirty="0">
              <a:solidFill>
                <a:schemeClr val="bg1"/>
              </a:solidFill>
            </a:endParaRPr>
          </a:p>
        </p:txBody>
      </p:sp>
      <p:sp>
        <p:nvSpPr>
          <p:cNvPr id="4" name="TextBox 3">
            <a:extLst>
              <a:ext uri="{FF2B5EF4-FFF2-40B4-BE49-F238E27FC236}">
                <a16:creationId xmlns:a16="http://schemas.microsoft.com/office/drawing/2014/main" id="{B663E0FC-98CF-0575-FF41-9B136A175142}"/>
              </a:ext>
            </a:extLst>
          </p:cNvPr>
          <p:cNvSpPr txBox="1"/>
          <p:nvPr/>
        </p:nvSpPr>
        <p:spPr>
          <a:xfrm>
            <a:off x="6516031" y="335845"/>
            <a:ext cx="4977161" cy="6186309"/>
          </a:xfrm>
          <a:prstGeom prst="rect">
            <a:avLst/>
          </a:prstGeom>
          <a:noFill/>
          <a:ln>
            <a:solidFill>
              <a:schemeClr val="accent1">
                <a:lumMod val="20000"/>
                <a:lumOff val="80000"/>
              </a:schemeClr>
            </a:solidFill>
          </a:ln>
        </p:spPr>
        <p:txBody>
          <a:bodyPr wrap="square" rtlCol="0">
            <a:spAutoFit/>
          </a:bodyPr>
          <a:lstStyle/>
          <a:p>
            <a:pPr lvl="0"/>
            <a:endParaRPr lang="en-IN" b="1" u="sng" dirty="0">
              <a:solidFill>
                <a:schemeClr val="bg1"/>
              </a:solidFill>
            </a:endParaRPr>
          </a:p>
          <a:p>
            <a:pPr lvl="0" algn="ctr"/>
            <a:r>
              <a:rPr lang="en-IN" b="1" u="sng" dirty="0">
                <a:solidFill>
                  <a:schemeClr val="bg1"/>
                </a:solidFill>
              </a:rPr>
              <a:t>Algorithm Steps:</a:t>
            </a:r>
          </a:p>
          <a:p>
            <a:pPr lvl="0"/>
            <a:endParaRPr lang="en-IN" b="1" u="sng" dirty="0">
              <a:solidFill>
                <a:schemeClr val="bg1"/>
              </a:solidFill>
            </a:endParaRPr>
          </a:p>
          <a:p>
            <a:pPr marL="342900" lvl="0" indent="-342900">
              <a:buFont typeface="+mj-lt"/>
              <a:buAutoNum type="arabicPeriod"/>
            </a:pPr>
            <a:r>
              <a:rPr lang="en-IN" dirty="0">
                <a:solidFill>
                  <a:schemeClr val="bg1"/>
                </a:solidFill>
              </a:rPr>
              <a:t>Initialize parameter vector </a:t>
            </a:r>
            <a:r>
              <a:rPr lang="en-IN" b="1" dirty="0">
                <a:solidFill>
                  <a:schemeClr val="bg1"/>
                </a:solidFill>
              </a:rPr>
              <a:t>x₀ = [x₁, x₂, x₃, x₄]</a:t>
            </a:r>
            <a:r>
              <a:rPr lang="en-IN" dirty="0">
                <a:solidFill>
                  <a:schemeClr val="bg1"/>
                </a:solidFill>
              </a:rPr>
              <a:t>.</a:t>
            </a:r>
          </a:p>
          <a:p>
            <a:pPr marL="342900" lvl="0" indent="-342900">
              <a:buFont typeface="+mj-lt"/>
              <a:buAutoNum type="arabicPeriod"/>
            </a:pPr>
            <a:endParaRPr lang="en-IN" dirty="0">
              <a:solidFill>
                <a:schemeClr val="bg1"/>
              </a:solidFill>
            </a:endParaRPr>
          </a:p>
          <a:p>
            <a:pPr marL="342900" lvl="0" indent="-342900">
              <a:buFont typeface="+mj-lt"/>
              <a:buAutoNum type="arabicPeriod"/>
            </a:pPr>
            <a:r>
              <a:rPr lang="en-IN" dirty="0">
                <a:solidFill>
                  <a:schemeClr val="bg1"/>
                </a:solidFill>
              </a:rPr>
              <a:t>Compute the gradient </a:t>
            </a:r>
            <a:r>
              <a:rPr lang="en-US" dirty="0">
                <a:solidFill>
                  <a:schemeClr val="bg1"/>
                </a:solidFill>
              </a:rPr>
              <a:t>∇</a:t>
            </a:r>
            <a:r>
              <a:rPr lang="en-IN" b="1" dirty="0">
                <a:solidFill>
                  <a:schemeClr val="bg1"/>
                </a:solidFill>
              </a:rPr>
              <a:t>f(x₀)</a:t>
            </a:r>
            <a:r>
              <a:rPr lang="en-IN" dirty="0">
                <a:solidFill>
                  <a:schemeClr val="bg1"/>
                </a:solidFill>
              </a:rPr>
              <a:t> of the objective function (Defect Rate).</a:t>
            </a:r>
          </a:p>
          <a:p>
            <a:pPr marL="342900" lvl="0" indent="-342900">
              <a:buFont typeface="+mj-lt"/>
              <a:buAutoNum type="arabicPeriod"/>
            </a:pPr>
            <a:endParaRPr lang="en-IN" dirty="0">
              <a:solidFill>
                <a:schemeClr val="bg1"/>
              </a:solidFill>
            </a:endParaRPr>
          </a:p>
          <a:p>
            <a:pPr marL="342900" lvl="0" indent="-342900">
              <a:buFont typeface="+mj-lt"/>
              <a:buAutoNum type="arabicPeriod"/>
            </a:pPr>
            <a:r>
              <a:rPr lang="en-IN" dirty="0">
                <a:solidFill>
                  <a:schemeClr val="bg1"/>
                </a:solidFill>
              </a:rPr>
              <a:t>Set search direction </a:t>
            </a:r>
            <a:r>
              <a:rPr lang="en-IN" b="1" dirty="0">
                <a:solidFill>
                  <a:schemeClr val="bg1"/>
                </a:solidFill>
              </a:rPr>
              <a:t>d₀ = -</a:t>
            </a:r>
            <a:r>
              <a:rPr lang="en-US" dirty="0">
                <a:solidFill>
                  <a:schemeClr val="bg1"/>
                </a:solidFill>
              </a:rPr>
              <a:t>∇</a:t>
            </a:r>
            <a:r>
              <a:rPr lang="en-IN" b="1" dirty="0">
                <a:solidFill>
                  <a:schemeClr val="bg1"/>
                </a:solidFill>
              </a:rPr>
              <a:t>f(x₀)</a:t>
            </a:r>
            <a:r>
              <a:rPr lang="en-IN" dirty="0">
                <a:solidFill>
                  <a:schemeClr val="bg1"/>
                </a:solidFill>
              </a:rPr>
              <a:t>.</a:t>
            </a:r>
          </a:p>
          <a:p>
            <a:pPr marL="342900" lvl="0" indent="-342900">
              <a:buFont typeface="+mj-lt"/>
              <a:buAutoNum type="arabicPeriod"/>
            </a:pPr>
            <a:endParaRPr lang="en-IN" dirty="0">
              <a:solidFill>
                <a:schemeClr val="bg1"/>
              </a:solidFill>
            </a:endParaRPr>
          </a:p>
          <a:p>
            <a:pPr marL="342900" lvl="0" indent="-342900">
              <a:buFont typeface="+mj-lt"/>
              <a:buAutoNum type="arabicPeriod"/>
            </a:pPr>
            <a:r>
              <a:rPr lang="en-IN" dirty="0">
                <a:solidFill>
                  <a:schemeClr val="bg1"/>
                </a:solidFill>
              </a:rPr>
              <a:t>Find the optimal step size </a:t>
            </a:r>
            <a:r>
              <a:rPr lang="en-IN" b="1" dirty="0">
                <a:solidFill>
                  <a:schemeClr val="bg1"/>
                </a:solidFill>
              </a:rPr>
              <a:t>α₀</a:t>
            </a:r>
            <a:r>
              <a:rPr lang="en-IN" dirty="0">
                <a:solidFill>
                  <a:schemeClr val="bg1"/>
                </a:solidFill>
              </a:rPr>
              <a:t> that minimizes </a:t>
            </a:r>
            <a:r>
              <a:rPr lang="en-IN" b="1" dirty="0">
                <a:solidFill>
                  <a:schemeClr val="bg1"/>
                </a:solidFill>
              </a:rPr>
              <a:t>f(x₀ + αd₀)</a:t>
            </a:r>
            <a:r>
              <a:rPr lang="en-IN" dirty="0">
                <a:solidFill>
                  <a:schemeClr val="bg1"/>
                </a:solidFill>
              </a:rPr>
              <a:t>.</a:t>
            </a:r>
          </a:p>
          <a:p>
            <a:pPr marL="342900" lvl="0" indent="-342900">
              <a:buFont typeface="+mj-lt"/>
              <a:buAutoNum type="arabicPeriod"/>
            </a:pPr>
            <a:endParaRPr lang="en-IN" dirty="0">
              <a:solidFill>
                <a:schemeClr val="bg1"/>
              </a:solidFill>
            </a:endParaRPr>
          </a:p>
          <a:p>
            <a:pPr marL="342900" lvl="0" indent="-342900">
              <a:buFont typeface="+mj-lt"/>
              <a:buAutoNum type="arabicPeriod"/>
            </a:pPr>
            <a:r>
              <a:rPr lang="en-IN" dirty="0">
                <a:solidFill>
                  <a:schemeClr val="bg1"/>
                </a:solidFill>
              </a:rPr>
              <a:t>Update parameters: </a:t>
            </a:r>
            <a:r>
              <a:rPr lang="en-IN" b="1" dirty="0">
                <a:solidFill>
                  <a:schemeClr val="bg1"/>
                </a:solidFill>
              </a:rPr>
              <a:t>x₁ = x₀ + α₀d₀</a:t>
            </a:r>
            <a:r>
              <a:rPr lang="en-IN" dirty="0">
                <a:solidFill>
                  <a:schemeClr val="bg1"/>
                </a:solidFill>
              </a:rPr>
              <a:t>.</a:t>
            </a:r>
          </a:p>
          <a:p>
            <a:pPr marL="342900" lvl="0" indent="-342900">
              <a:buFont typeface="+mj-lt"/>
              <a:buAutoNum type="arabicPeriod"/>
            </a:pPr>
            <a:endParaRPr lang="en-IN" dirty="0">
              <a:solidFill>
                <a:schemeClr val="bg1"/>
              </a:solidFill>
            </a:endParaRPr>
          </a:p>
          <a:p>
            <a:pPr marL="342900" lvl="0" indent="-342900">
              <a:buFont typeface="+mj-lt"/>
              <a:buAutoNum type="arabicPeriod"/>
            </a:pPr>
            <a:r>
              <a:rPr lang="en-IN" dirty="0">
                <a:solidFill>
                  <a:schemeClr val="bg1"/>
                </a:solidFill>
              </a:rPr>
              <a:t>Similarly we calculate all these repeatedly for k steps.</a:t>
            </a:r>
          </a:p>
          <a:p>
            <a:pPr marL="342900" lvl="0" indent="-342900">
              <a:buFont typeface="+mj-lt"/>
              <a:buAutoNum type="arabicPeriod"/>
            </a:pPr>
            <a:endParaRPr lang="en-IN" dirty="0">
              <a:solidFill>
                <a:schemeClr val="bg1"/>
              </a:solidFill>
            </a:endParaRPr>
          </a:p>
          <a:p>
            <a:pPr marL="342900" lvl="0" indent="-342900">
              <a:buFont typeface="+mj-lt"/>
              <a:buAutoNum type="arabicPeriod"/>
            </a:pPr>
            <a:r>
              <a:rPr lang="en-IN" dirty="0">
                <a:solidFill>
                  <a:schemeClr val="bg1"/>
                </a:solidFill>
              </a:rPr>
              <a:t>Repeat until convergence criterion is met (</a:t>
            </a:r>
            <a:r>
              <a:rPr lang="en-IN" b="1" dirty="0">
                <a:solidFill>
                  <a:schemeClr val="bg1"/>
                </a:solidFill>
              </a:rPr>
              <a:t>|</a:t>
            </a:r>
            <a:r>
              <a:rPr lang="en-US" dirty="0">
                <a:solidFill>
                  <a:schemeClr val="bg1"/>
                </a:solidFill>
              </a:rPr>
              <a:t>∇</a:t>
            </a:r>
            <a:r>
              <a:rPr lang="en-IN" b="1" dirty="0">
                <a:solidFill>
                  <a:schemeClr val="bg1"/>
                </a:solidFill>
              </a:rPr>
              <a:t>f(xₖ)| ≤ tolerance</a:t>
            </a:r>
            <a:r>
              <a:rPr lang="en-IN" dirty="0">
                <a:solidFill>
                  <a:schemeClr val="bg1"/>
                </a:solidFill>
              </a:rPr>
              <a:t>), where the tolerance is predefined.</a:t>
            </a:r>
          </a:p>
          <a:p>
            <a:endParaRPr lang="en-IN" dirty="0">
              <a:solidFill>
                <a:schemeClr val="bg1"/>
              </a:solidFill>
            </a:endParaRPr>
          </a:p>
        </p:txBody>
      </p:sp>
    </p:spTree>
    <p:extLst>
      <p:ext uri="{BB962C8B-B14F-4D97-AF65-F5344CB8AC3E}">
        <p14:creationId xmlns:p14="http://schemas.microsoft.com/office/powerpoint/2010/main" val="1506135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arn(inVertical)">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CF7E00-F967-D1D4-C8DF-E220A9C9386B}"/>
              </a:ext>
            </a:extLst>
          </p:cNvPr>
          <p:cNvSpPr txBox="1"/>
          <p:nvPr/>
        </p:nvSpPr>
        <p:spPr>
          <a:xfrm>
            <a:off x="936704" y="579863"/>
            <a:ext cx="6322742" cy="523220"/>
          </a:xfrm>
          <a:prstGeom prst="rect">
            <a:avLst/>
          </a:prstGeom>
          <a:noFill/>
          <a:ln>
            <a:solidFill>
              <a:schemeClr val="accent5">
                <a:lumMod val="20000"/>
                <a:lumOff val="80000"/>
              </a:schemeClr>
            </a:solidFill>
          </a:ln>
        </p:spPr>
        <p:txBody>
          <a:bodyPr wrap="square" rtlCol="0">
            <a:spAutoFit/>
          </a:bodyPr>
          <a:lstStyle/>
          <a:p>
            <a:r>
              <a:rPr lang="en-IN" sz="2800" b="1" dirty="0">
                <a:solidFill>
                  <a:schemeClr val="bg1"/>
                </a:solidFill>
              </a:rPr>
              <a:t>WHY WE USE 4 PREDICTORS AND NOT 5?</a:t>
            </a:r>
          </a:p>
        </p:txBody>
      </p:sp>
      <p:sp>
        <p:nvSpPr>
          <p:cNvPr id="4" name="TextBox 3">
            <a:extLst>
              <a:ext uri="{FF2B5EF4-FFF2-40B4-BE49-F238E27FC236}">
                <a16:creationId xmlns:a16="http://schemas.microsoft.com/office/drawing/2014/main" id="{62ACA67C-3DDB-D47C-EBE0-3386CAE87634}"/>
              </a:ext>
            </a:extLst>
          </p:cNvPr>
          <p:cNvSpPr txBox="1"/>
          <p:nvPr/>
        </p:nvSpPr>
        <p:spPr>
          <a:xfrm>
            <a:off x="880947" y="1494265"/>
            <a:ext cx="10247970" cy="3477875"/>
          </a:xfrm>
          <a:prstGeom prst="rect">
            <a:avLst/>
          </a:prstGeom>
          <a:noFill/>
        </p:spPr>
        <p:txBody>
          <a:bodyPr wrap="square" rtlCol="0">
            <a:spAutoFit/>
          </a:bodyPr>
          <a:lstStyle/>
          <a:p>
            <a:r>
              <a:rPr lang="en-US" sz="2000" dirty="0">
                <a:solidFill>
                  <a:schemeClr val="bg1"/>
                </a:solidFill>
              </a:rPr>
              <a:t>With 5 predictors, the model includes: 5 linear terms, 5 quadratic terms, 10 cross-product terms that is a total of 21 parameters (excluding the response variable). Although the dataset has 1170 observations, the problem arises due to multicollinearity and numerical instability.</a:t>
            </a:r>
          </a:p>
          <a:p>
            <a:endParaRPr lang="en-US" sz="2000" dirty="0">
              <a:solidFill>
                <a:schemeClr val="bg1"/>
              </a:solidFill>
            </a:endParaRPr>
          </a:p>
          <a:p>
            <a:r>
              <a:rPr lang="en-US" sz="2000" dirty="0">
                <a:solidFill>
                  <a:schemeClr val="bg1"/>
                </a:solidFill>
              </a:rPr>
              <a:t>The model is giving </a:t>
            </a:r>
            <a:r>
              <a:rPr lang="en-US" sz="2000" u="sng" dirty="0">
                <a:solidFill>
                  <a:schemeClr val="bg1"/>
                </a:solidFill>
              </a:rPr>
              <a:t>unstable and poor results.</a:t>
            </a:r>
          </a:p>
          <a:p>
            <a:endParaRPr lang="en-US" sz="2000" u="sng" dirty="0">
              <a:solidFill>
                <a:schemeClr val="bg1"/>
              </a:solidFill>
            </a:endParaRPr>
          </a:p>
          <a:p>
            <a:r>
              <a:rPr lang="en-US" sz="2000" dirty="0">
                <a:solidFill>
                  <a:schemeClr val="bg1"/>
                </a:solidFill>
              </a:rPr>
              <a:t>When one predictor is removed (using 4 predictors instead of 5), the number of parameters reduces significantly (from 21 to 15). This reduces multicollinearity, makes the model matrix more stable, and improves the numerical behavior of the regression. Therefore, the poor performance with five predictors is not due to insufficient data size but rather due to overparameterization, multicollinearity, and numerical instability in the quadratic model. </a:t>
            </a:r>
            <a:endParaRPr lang="en-IN" sz="2000" u="sng" dirty="0">
              <a:solidFill>
                <a:schemeClr val="bg1"/>
              </a:solidFill>
            </a:endParaRPr>
          </a:p>
        </p:txBody>
      </p:sp>
      <p:sp>
        <p:nvSpPr>
          <p:cNvPr id="6" name="TextBox 5">
            <a:extLst>
              <a:ext uri="{FF2B5EF4-FFF2-40B4-BE49-F238E27FC236}">
                <a16:creationId xmlns:a16="http://schemas.microsoft.com/office/drawing/2014/main" id="{BCFEAE0A-A135-DF9A-94B6-3606E9DB9932}"/>
              </a:ext>
            </a:extLst>
          </p:cNvPr>
          <p:cNvSpPr txBox="1"/>
          <p:nvPr/>
        </p:nvSpPr>
        <p:spPr>
          <a:xfrm>
            <a:off x="936704" y="5452946"/>
            <a:ext cx="10069552" cy="646331"/>
          </a:xfrm>
          <a:prstGeom prst="rect">
            <a:avLst/>
          </a:prstGeom>
          <a:noFill/>
          <a:ln>
            <a:solidFill>
              <a:schemeClr val="accent1">
                <a:lumMod val="40000"/>
                <a:lumOff val="60000"/>
              </a:schemeClr>
            </a:solidFill>
          </a:ln>
        </p:spPr>
        <p:txBody>
          <a:bodyPr wrap="square" rtlCol="0">
            <a:spAutoFit/>
          </a:bodyPr>
          <a:lstStyle/>
          <a:p>
            <a:r>
              <a:rPr lang="en-IN" dirty="0">
                <a:solidFill>
                  <a:schemeClr val="bg1"/>
                </a:solidFill>
              </a:rPr>
              <a:t>We exclude the “Delivery Delay” variable from out predictor set as it has the lowest coefficient while fitting the multiple regression model of </a:t>
            </a:r>
            <a:r>
              <a:rPr lang="en-IN" dirty="0" err="1">
                <a:solidFill>
                  <a:schemeClr val="bg1"/>
                </a:solidFill>
              </a:rPr>
              <a:t>DefectRate</a:t>
            </a:r>
            <a:r>
              <a:rPr lang="en-IN" dirty="0">
                <a:solidFill>
                  <a:schemeClr val="bg1"/>
                </a:solidFill>
              </a:rPr>
              <a:t> on the 5 predictors.</a:t>
            </a:r>
          </a:p>
        </p:txBody>
      </p:sp>
    </p:spTree>
    <p:extLst>
      <p:ext uri="{BB962C8B-B14F-4D97-AF65-F5344CB8AC3E}">
        <p14:creationId xmlns:p14="http://schemas.microsoft.com/office/powerpoint/2010/main" val="3936747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anim calcmode="lin" valueType="num">
                                      <p:cBhvr>
                                        <p:cTn id="19" dur="1000" fill="hold"/>
                                        <p:tgtEl>
                                          <p:spTgt spid="6"/>
                                        </p:tgtEl>
                                        <p:attrNameLst>
                                          <p:attrName>ppt_x</p:attrName>
                                        </p:attrNameLst>
                                      </p:cBhvr>
                                      <p:tavLst>
                                        <p:tav tm="0">
                                          <p:val>
                                            <p:strVal val="#ppt_x"/>
                                          </p:val>
                                        </p:tav>
                                        <p:tav tm="100000">
                                          <p:val>
                                            <p:strVal val="#ppt_x"/>
                                          </p:val>
                                        </p:tav>
                                      </p:tavLst>
                                    </p:anim>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194D5E-440D-444C-2A31-9AF6C9B9ECF5}"/>
              </a:ext>
            </a:extLst>
          </p:cNvPr>
          <p:cNvSpPr txBox="1"/>
          <p:nvPr/>
        </p:nvSpPr>
        <p:spPr>
          <a:xfrm>
            <a:off x="903249" y="669073"/>
            <a:ext cx="10385502" cy="3139321"/>
          </a:xfrm>
          <a:prstGeom prst="rect">
            <a:avLst/>
          </a:prstGeom>
          <a:noFill/>
        </p:spPr>
        <p:txBody>
          <a:bodyPr wrap="square" rtlCol="0">
            <a:spAutoFit/>
          </a:bodyPr>
          <a:lstStyle/>
          <a:p>
            <a:r>
              <a:rPr lang="en-US" b="1" dirty="0">
                <a:solidFill>
                  <a:schemeClr val="accent5">
                    <a:lumMod val="40000"/>
                    <a:lumOff val="60000"/>
                  </a:schemeClr>
                </a:solidFill>
              </a:rPr>
              <a:t>OBJECTIVE FUNCTION</a:t>
            </a:r>
          </a:p>
          <a:p>
            <a:endParaRPr lang="en-US" b="1" dirty="0">
              <a:solidFill>
                <a:schemeClr val="bg1"/>
              </a:solidFill>
            </a:endParaRPr>
          </a:p>
          <a:p>
            <a:r>
              <a:rPr lang="en-US" dirty="0">
                <a:solidFill>
                  <a:schemeClr val="bg1"/>
                </a:solidFill>
              </a:rPr>
              <a:t>f(x₁, x₂, x₃, x₄) = β₀ + β₁x₁ + β₂x₂ + β₃x₃ + β₄x₄ + β₁₁x₁² + β₂₂x₂² + β₃₃x₃² + β₄₄x₄² + β₁₂</a:t>
            </a:r>
            <a:r>
              <a:rPr lang="en-US" dirty="0" err="1">
                <a:solidFill>
                  <a:schemeClr val="bg1"/>
                </a:solidFill>
              </a:rPr>
              <a:t>x₁x</a:t>
            </a:r>
            <a:r>
              <a:rPr lang="en-US" dirty="0">
                <a:solidFill>
                  <a:schemeClr val="bg1"/>
                </a:solidFill>
              </a:rPr>
              <a:t>₂ + β₁₃</a:t>
            </a:r>
            <a:r>
              <a:rPr lang="en-US" dirty="0" err="1">
                <a:solidFill>
                  <a:schemeClr val="bg1"/>
                </a:solidFill>
              </a:rPr>
              <a:t>x₁x</a:t>
            </a:r>
            <a:r>
              <a:rPr lang="en-US" dirty="0">
                <a:solidFill>
                  <a:schemeClr val="bg1"/>
                </a:solidFill>
              </a:rPr>
              <a:t>₃ + β₁₄</a:t>
            </a:r>
            <a:r>
              <a:rPr lang="en-US" dirty="0" err="1">
                <a:solidFill>
                  <a:schemeClr val="bg1"/>
                </a:solidFill>
              </a:rPr>
              <a:t>x₁x</a:t>
            </a:r>
            <a:r>
              <a:rPr lang="en-US" dirty="0">
                <a:solidFill>
                  <a:schemeClr val="bg1"/>
                </a:solidFill>
              </a:rPr>
              <a:t>₄</a:t>
            </a:r>
            <a:br>
              <a:rPr lang="en-US" dirty="0">
                <a:solidFill>
                  <a:schemeClr val="bg1"/>
                </a:solidFill>
              </a:rPr>
            </a:br>
            <a:r>
              <a:rPr lang="en-US" dirty="0">
                <a:solidFill>
                  <a:schemeClr val="bg1"/>
                </a:solidFill>
              </a:rPr>
              <a:t>                          + β₂₃</a:t>
            </a:r>
            <a:r>
              <a:rPr lang="en-US" dirty="0" err="1">
                <a:solidFill>
                  <a:schemeClr val="bg1"/>
                </a:solidFill>
              </a:rPr>
              <a:t>x₂x</a:t>
            </a:r>
            <a:r>
              <a:rPr lang="en-US" dirty="0">
                <a:solidFill>
                  <a:schemeClr val="bg1"/>
                </a:solidFill>
              </a:rPr>
              <a:t>₃ + β₂₄</a:t>
            </a:r>
            <a:r>
              <a:rPr lang="en-US" dirty="0" err="1">
                <a:solidFill>
                  <a:schemeClr val="bg1"/>
                </a:solidFill>
              </a:rPr>
              <a:t>x₂x</a:t>
            </a:r>
            <a:r>
              <a:rPr lang="en-US" dirty="0">
                <a:solidFill>
                  <a:schemeClr val="bg1"/>
                </a:solidFill>
              </a:rPr>
              <a:t>₄ + β₃₄</a:t>
            </a:r>
            <a:r>
              <a:rPr lang="en-US" dirty="0" err="1">
                <a:solidFill>
                  <a:schemeClr val="bg1"/>
                </a:solidFill>
              </a:rPr>
              <a:t>x₃x</a:t>
            </a:r>
            <a:r>
              <a:rPr lang="en-US" dirty="0">
                <a:solidFill>
                  <a:schemeClr val="bg1"/>
                </a:solidFill>
              </a:rPr>
              <a:t>₄</a:t>
            </a:r>
            <a:endParaRPr lang="en-IN" dirty="0">
              <a:solidFill>
                <a:schemeClr val="bg1"/>
              </a:solidFill>
            </a:endParaRPr>
          </a:p>
          <a:p>
            <a:endParaRPr lang="en-IN" b="1" dirty="0">
              <a:solidFill>
                <a:schemeClr val="bg1"/>
              </a:solidFill>
            </a:endParaRPr>
          </a:p>
          <a:p>
            <a:endParaRPr lang="en-IN" b="1" dirty="0">
              <a:solidFill>
                <a:schemeClr val="bg1"/>
              </a:solidFill>
            </a:endParaRPr>
          </a:p>
          <a:p>
            <a:r>
              <a:rPr lang="en-IN" dirty="0">
                <a:solidFill>
                  <a:schemeClr val="bg1"/>
                </a:solidFill>
              </a:rPr>
              <a:t>Here, </a:t>
            </a:r>
            <a:r>
              <a:rPr lang="en-US" dirty="0">
                <a:solidFill>
                  <a:schemeClr val="bg1"/>
                </a:solidFill>
              </a:rPr>
              <a:t>x₁, x₂, x₃, x₄ denotes the respective values of </a:t>
            </a:r>
            <a:r>
              <a:rPr lang="en-US" dirty="0" err="1">
                <a:solidFill>
                  <a:schemeClr val="bg1"/>
                </a:solidFill>
              </a:rPr>
              <a:t>MaintenanceHours</a:t>
            </a:r>
            <a:r>
              <a:rPr lang="en-US" dirty="0">
                <a:solidFill>
                  <a:schemeClr val="bg1"/>
                </a:solidFill>
              </a:rPr>
              <a:t>, </a:t>
            </a:r>
            <a:r>
              <a:rPr lang="en-US" dirty="0" err="1">
                <a:solidFill>
                  <a:schemeClr val="bg1"/>
                </a:solidFill>
              </a:rPr>
              <a:t>ProductionVolume</a:t>
            </a:r>
            <a:r>
              <a:rPr lang="en-US" dirty="0">
                <a:solidFill>
                  <a:schemeClr val="bg1"/>
                </a:solidFill>
              </a:rPr>
              <a:t>, </a:t>
            </a:r>
            <a:r>
              <a:rPr lang="en-US" dirty="0" err="1">
                <a:solidFill>
                  <a:schemeClr val="bg1"/>
                </a:solidFill>
              </a:rPr>
              <a:t>AdditiveProcessTime</a:t>
            </a:r>
            <a:r>
              <a:rPr lang="en-US" dirty="0">
                <a:solidFill>
                  <a:schemeClr val="bg1"/>
                </a:solidFill>
              </a:rPr>
              <a:t>, </a:t>
            </a:r>
            <a:r>
              <a:rPr lang="en-US" dirty="0" err="1">
                <a:solidFill>
                  <a:schemeClr val="bg1"/>
                </a:solidFill>
              </a:rPr>
              <a:t>QualityScore</a:t>
            </a:r>
            <a:r>
              <a:rPr lang="en-US" dirty="0">
                <a:solidFill>
                  <a:schemeClr val="bg1"/>
                </a:solidFill>
              </a:rPr>
              <a:t>.</a:t>
            </a:r>
          </a:p>
          <a:p>
            <a:r>
              <a:rPr lang="en-US" dirty="0">
                <a:solidFill>
                  <a:schemeClr val="bg1"/>
                </a:solidFill>
              </a:rPr>
              <a:t>f(x₁, x₂, x₃, x₄) denotes the corresponding value of </a:t>
            </a:r>
            <a:r>
              <a:rPr lang="en-US" dirty="0" err="1">
                <a:solidFill>
                  <a:schemeClr val="bg1"/>
                </a:solidFill>
              </a:rPr>
              <a:t>DefectRate</a:t>
            </a:r>
            <a:r>
              <a:rPr lang="en-US" dirty="0">
                <a:solidFill>
                  <a:schemeClr val="bg1"/>
                </a:solidFill>
              </a:rPr>
              <a:t>.</a:t>
            </a:r>
          </a:p>
          <a:p>
            <a:endParaRPr lang="en-US" dirty="0">
              <a:solidFill>
                <a:schemeClr val="bg1"/>
              </a:solidFill>
            </a:endParaRPr>
          </a:p>
          <a:p>
            <a:r>
              <a:rPr lang="en-US" dirty="0">
                <a:solidFill>
                  <a:schemeClr val="bg1"/>
                </a:solidFill>
              </a:rPr>
              <a:t>Meaning of each coefficients are as follows:</a:t>
            </a:r>
            <a:endParaRPr lang="en-IN" dirty="0">
              <a:solidFill>
                <a:schemeClr val="bg1"/>
              </a:solidFill>
            </a:endParaRPr>
          </a:p>
        </p:txBody>
      </p:sp>
      <p:graphicFrame>
        <p:nvGraphicFramePr>
          <p:cNvPr id="3" name="Table 2">
            <a:extLst>
              <a:ext uri="{FF2B5EF4-FFF2-40B4-BE49-F238E27FC236}">
                <a16:creationId xmlns:a16="http://schemas.microsoft.com/office/drawing/2014/main" id="{D628FEA8-887A-CB91-A880-EB5942BE4F5A}"/>
              </a:ext>
            </a:extLst>
          </p:cNvPr>
          <p:cNvGraphicFramePr>
            <a:graphicFrameLocks noGrp="1"/>
          </p:cNvGraphicFramePr>
          <p:nvPr>
            <p:extLst>
              <p:ext uri="{D42A27DB-BD31-4B8C-83A1-F6EECF244321}">
                <p14:modId xmlns:p14="http://schemas.microsoft.com/office/powerpoint/2010/main" val="2897770870"/>
              </p:ext>
            </p:extLst>
          </p:nvPr>
        </p:nvGraphicFramePr>
        <p:xfrm>
          <a:off x="1639848" y="3956669"/>
          <a:ext cx="8641575" cy="2343767"/>
        </p:xfrm>
        <a:graphic>
          <a:graphicData uri="http://schemas.openxmlformats.org/drawingml/2006/table">
            <a:tbl>
              <a:tblPr>
                <a:tableStyleId>{5C22544A-7EE6-4342-B048-85BDC9FD1C3A}</a:tableStyleId>
              </a:tblPr>
              <a:tblGrid>
                <a:gridCol w="1946140">
                  <a:extLst>
                    <a:ext uri="{9D8B030D-6E8A-4147-A177-3AD203B41FA5}">
                      <a16:colId xmlns:a16="http://schemas.microsoft.com/office/drawing/2014/main" val="3920660847"/>
                    </a:ext>
                  </a:extLst>
                </a:gridCol>
                <a:gridCol w="4088679">
                  <a:extLst>
                    <a:ext uri="{9D8B030D-6E8A-4147-A177-3AD203B41FA5}">
                      <a16:colId xmlns:a16="http://schemas.microsoft.com/office/drawing/2014/main" val="2564343264"/>
                    </a:ext>
                  </a:extLst>
                </a:gridCol>
                <a:gridCol w="2606756">
                  <a:extLst>
                    <a:ext uri="{9D8B030D-6E8A-4147-A177-3AD203B41FA5}">
                      <a16:colId xmlns:a16="http://schemas.microsoft.com/office/drawing/2014/main" val="949201056"/>
                    </a:ext>
                  </a:extLst>
                </a:gridCol>
              </a:tblGrid>
              <a:tr h="199323">
                <a:tc>
                  <a:txBody>
                    <a:bodyPr/>
                    <a:lstStyle/>
                    <a:p>
                      <a:pPr algn="ctr" fontAlgn="t">
                        <a:buNone/>
                      </a:pPr>
                      <a:r>
                        <a:rPr lang="en-IN" sz="1100" u="none" strike="noStrike">
                          <a:effectLst/>
                        </a:rPr>
                        <a:t>Term</a:t>
                      </a:r>
                      <a:endParaRPr lang="en-IN" sz="1100" b="1" i="0" u="none" strike="noStrike">
                        <a:solidFill>
                          <a:srgbClr val="000000"/>
                        </a:solidFill>
                        <a:effectLst/>
                        <a:latin typeface="Calibri" panose="020F0502020204030204" pitchFamily="34" charset="0"/>
                      </a:endParaRPr>
                    </a:p>
                  </a:txBody>
                  <a:tcPr marL="6350" marR="6350" marT="6350" marB="0"/>
                </a:tc>
                <a:tc>
                  <a:txBody>
                    <a:bodyPr/>
                    <a:lstStyle/>
                    <a:p>
                      <a:pPr algn="ctr" fontAlgn="t">
                        <a:buNone/>
                      </a:pPr>
                      <a:r>
                        <a:rPr lang="en-US" sz="1100" u="none" strike="noStrike">
                          <a:effectLst/>
                        </a:rPr>
                        <a:t>Corresponds to R model term</a:t>
                      </a:r>
                      <a:endParaRPr lang="en-US" sz="1100" b="1" i="0" u="none" strike="noStrike">
                        <a:solidFill>
                          <a:srgbClr val="000000"/>
                        </a:solidFill>
                        <a:effectLst/>
                        <a:latin typeface="Calibri" panose="020F0502020204030204" pitchFamily="34" charset="0"/>
                      </a:endParaRPr>
                    </a:p>
                  </a:txBody>
                  <a:tcPr marL="6350" marR="6350" marT="6350" marB="0"/>
                </a:tc>
                <a:tc>
                  <a:txBody>
                    <a:bodyPr/>
                    <a:lstStyle/>
                    <a:p>
                      <a:pPr algn="ctr" fontAlgn="t">
                        <a:buNone/>
                      </a:pPr>
                      <a:r>
                        <a:rPr lang="en-IN" sz="1100" u="none" strike="noStrike">
                          <a:effectLst/>
                        </a:rPr>
                        <a:t>Meaning</a:t>
                      </a:r>
                      <a:endParaRPr lang="en-IN" sz="1100" b="1" i="0" u="none" strike="noStrike">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933890923"/>
                  </a:ext>
                </a:extLst>
              </a:tr>
              <a:tr h="536111">
                <a:tc>
                  <a:txBody>
                    <a:bodyPr/>
                    <a:lstStyle/>
                    <a:p>
                      <a:pPr algn="ctr" fontAlgn="ctr">
                        <a:buNone/>
                      </a:pPr>
                      <a:r>
                        <a:rPr lang="el-GR" sz="1100" u="none" strike="noStrike" dirty="0">
                          <a:effectLst/>
                        </a:rPr>
                        <a:t>β₀</a:t>
                      </a:r>
                      <a:endParaRPr lang="el-GR"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buNone/>
                      </a:pPr>
                      <a:r>
                        <a:rPr lang="en-IN" sz="1100" u="none" strike="noStrike">
                          <a:effectLst/>
                        </a:rPr>
                        <a:t>(Intercept)</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buNone/>
                      </a:pPr>
                      <a:r>
                        <a:rPr lang="en-IN" sz="1100" u="none" strike="noStrike" dirty="0">
                          <a:effectLst/>
                        </a:rPr>
                        <a:t>Constant term</a:t>
                      </a:r>
                      <a:endParaRPr lang="en-IN" sz="11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194520321"/>
                  </a:ext>
                </a:extLst>
              </a:tr>
              <a:tr h="536111">
                <a:tc>
                  <a:txBody>
                    <a:bodyPr/>
                    <a:lstStyle/>
                    <a:p>
                      <a:pPr algn="ctr" fontAlgn="ctr">
                        <a:buNone/>
                      </a:pPr>
                      <a:r>
                        <a:rPr lang="el-GR" sz="1100" u="none" strike="noStrike" dirty="0">
                          <a:effectLst/>
                        </a:rPr>
                        <a:t>β₁, β₂, β₃, β₄</a:t>
                      </a:r>
                      <a:endParaRPr lang="el-GR"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buNone/>
                      </a:pPr>
                      <a:r>
                        <a:rPr lang="en-IN" sz="1100" u="none" strike="noStrike">
                          <a:effectLst/>
                        </a:rPr>
                        <a:t>MaintenanceHours, ProductionVolume, AdditiveProcessTime, QualityScore</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buNone/>
                      </a:pPr>
                      <a:r>
                        <a:rPr lang="en-IN" sz="1100" u="none" strike="noStrike">
                          <a:effectLst/>
                        </a:rPr>
                        <a:t>Linear effects</a:t>
                      </a:r>
                      <a:endParaRPr lang="en-IN"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57033830"/>
                  </a:ext>
                </a:extLst>
              </a:tr>
              <a:tr h="536111">
                <a:tc>
                  <a:txBody>
                    <a:bodyPr/>
                    <a:lstStyle/>
                    <a:p>
                      <a:pPr algn="ctr" fontAlgn="ctr">
                        <a:buNone/>
                      </a:pPr>
                      <a:r>
                        <a:rPr lang="el-GR" sz="1100" u="none" strike="noStrike" dirty="0">
                          <a:effectLst/>
                        </a:rPr>
                        <a:t>β₁₁, β₂₂, β₃₃, β₄₄</a:t>
                      </a:r>
                      <a:endParaRPr lang="el-GR"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buNone/>
                      </a:pPr>
                      <a:r>
                        <a:rPr lang="en-IN" sz="1100" u="none" strike="noStrike">
                          <a:effectLst/>
                        </a:rPr>
                        <a:t>I(MaintenanceHours^2) etc.</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buNone/>
                      </a:pPr>
                      <a:r>
                        <a:rPr lang="en-IN" sz="1100" u="none" strike="noStrike">
                          <a:effectLst/>
                        </a:rPr>
                        <a:t>Quadratic effects (curvature)</a:t>
                      </a:r>
                      <a:endParaRPr lang="en-IN"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871998127"/>
                  </a:ext>
                </a:extLst>
              </a:tr>
              <a:tr h="536111">
                <a:tc>
                  <a:txBody>
                    <a:bodyPr/>
                    <a:lstStyle/>
                    <a:p>
                      <a:pPr algn="ctr" fontAlgn="ctr">
                        <a:buNone/>
                      </a:pPr>
                      <a:r>
                        <a:rPr lang="el-GR" sz="1100" u="none" strike="noStrike" dirty="0">
                          <a:effectLst/>
                        </a:rPr>
                        <a:t>β₁₂, β₁₃, β₁₄, β₂₃, β₂₄, β₃₄</a:t>
                      </a:r>
                      <a:endParaRPr lang="el-GR"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buNone/>
                      </a:pPr>
                      <a:r>
                        <a:rPr lang="en-IN" sz="1100" u="none" strike="noStrike" dirty="0">
                          <a:effectLst/>
                        </a:rPr>
                        <a:t>I(</a:t>
                      </a:r>
                      <a:r>
                        <a:rPr lang="en-IN" sz="1100" u="none" strike="noStrike" dirty="0" err="1">
                          <a:effectLst/>
                        </a:rPr>
                        <a:t>MaintenanceHours</a:t>
                      </a:r>
                      <a:r>
                        <a:rPr lang="en-IN" sz="1100" u="none" strike="noStrike" dirty="0">
                          <a:effectLst/>
                        </a:rPr>
                        <a:t> * </a:t>
                      </a:r>
                      <a:r>
                        <a:rPr lang="en-IN" sz="1100" u="none" strike="noStrike" dirty="0" err="1">
                          <a:effectLst/>
                        </a:rPr>
                        <a:t>ProductionVolume</a:t>
                      </a:r>
                      <a:r>
                        <a:rPr lang="en-IN" sz="1100" u="none" strike="noStrike" dirty="0">
                          <a:effectLst/>
                        </a:rPr>
                        <a:t>) etc.</a:t>
                      </a:r>
                      <a:endParaRPr lang="en-IN" sz="11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buNone/>
                      </a:pPr>
                      <a:r>
                        <a:rPr lang="en-IN" sz="1100" u="none" strike="noStrike" dirty="0">
                          <a:effectLst/>
                        </a:rPr>
                        <a:t>Interaction effects</a:t>
                      </a:r>
                      <a:endParaRPr lang="en-IN" sz="11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052205900"/>
                  </a:ext>
                </a:extLst>
              </a:tr>
            </a:tbl>
          </a:graphicData>
        </a:graphic>
      </p:graphicFrame>
    </p:spTree>
    <p:extLst>
      <p:ext uri="{BB962C8B-B14F-4D97-AF65-F5344CB8AC3E}">
        <p14:creationId xmlns:p14="http://schemas.microsoft.com/office/powerpoint/2010/main" val="2490351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114A00-A666-4008-87F3-A13D7693D608}"/>
              </a:ext>
            </a:extLst>
          </p:cNvPr>
          <p:cNvSpPr txBox="1"/>
          <p:nvPr/>
        </p:nvSpPr>
        <p:spPr>
          <a:xfrm>
            <a:off x="780585" y="557562"/>
            <a:ext cx="8675931" cy="461665"/>
          </a:xfrm>
          <a:prstGeom prst="rect">
            <a:avLst/>
          </a:prstGeom>
          <a:noFill/>
        </p:spPr>
        <p:txBody>
          <a:bodyPr wrap="square" rtlCol="0">
            <a:spAutoFit/>
          </a:bodyPr>
          <a:lstStyle/>
          <a:p>
            <a:r>
              <a:rPr lang="en-IN" sz="2400" b="1" dirty="0">
                <a:solidFill>
                  <a:schemeClr val="bg1"/>
                </a:solidFill>
              </a:rPr>
              <a:t>APPLYING IN-BUILT FUNCTION (CONVERGED IN 200 ITERATIONS)</a:t>
            </a:r>
          </a:p>
        </p:txBody>
      </p:sp>
      <p:pic>
        <p:nvPicPr>
          <p:cNvPr id="4" name="Picture 3">
            <a:extLst>
              <a:ext uri="{FF2B5EF4-FFF2-40B4-BE49-F238E27FC236}">
                <a16:creationId xmlns:a16="http://schemas.microsoft.com/office/drawing/2014/main" id="{416C81D2-169C-3F7A-DACD-EF2B49858AEA}"/>
              </a:ext>
            </a:extLst>
          </p:cNvPr>
          <p:cNvPicPr>
            <a:picLocks noChangeAspect="1"/>
          </p:cNvPicPr>
          <p:nvPr/>
        </p:nvPicPr>
        <p:blipFill>
          <a:blip r:embed="rId2"/>
          <a:stretch>
            <a:fillRect/>
          </a:stretch>
        </p:blipFill>
        <p:spPr>
          <a:xfrm>
            <a:off x="531350" y="4162527"/>
            <a:ext cx="6525536" cy="2343477"/>
          </a:xfrm>
          <a:prstGeom prst="rect">
            <a:avLst/>
          </a:prstGeom>
        </p:spPr>
      </p:pic>
      <p:pic>
        <p:nvPicPr>
          <p:cNvPr id="6" name="Picture 5">
            <a:extLst>
              <a:ext uri="{FF2B5EF4-FFF2-40B4-BE49-F238E27FC236}">
                <a16:creationId xmlns:a16="http://schemas.microsoft.com/office/drawing/2014/main" id="{D5E56924-2816-175E-3B1E-1D708765541A}"/>
              </a:ext>
            </a:extLst>
          </p:cNvPr>
          <p:cNvPicPr>
            <a:picLocks noChangeAspect="1"/>
          </p:cNvPicPr>
          <p:nvPr/>
        </p:nvPicPr>
        <p:blipFill>
          <a:blip r:embed="rId3"/>
          <a:stretch>
            <a:fillRect/>
          </a:stretch>
        </p:blipFill>
        <p:spPr>
          <a:xfrm>
            <a:off x="531350" y="1304041"/>
            <a:ext cx="6525536" cy="2305372"/>
          </a:xfrm>
          <a:prstGeom prst="rect">
            <a:avLst/>
          </a:prstGeom>
        </p:spPr>
      </p:pic>
      <p:sp>
        <p:nvSpPr>
          <p:cNvPr id="7" name="TextBox 6">
            <a:extLst>
              <a:ext uri="{FF2B5EF4-FFF2-40B4-BE49-F238E27FC236}">
                <a16:creationId xmlns:a16="http://schemas.microsoft.com/office/drawing/2014/main" id="{9078E9FA-D9E7-B178-5B85-46305AAB2679}"/>
              </a:ext>
            </a:extLst>
          </p:cNvPr>
          <p:cNvSpPr txBox="1"/>
          <p:nvPr/>
        </p:nvSpPr>
        <p:spPr>
          <a:xfrm>
            <a:off x="1608882" y="3526080"/>
            <a:ext cx="937549" cy="646331"/>
          </a:xfrm>
          <a:prstGeom prst="rect">
            <a:avLst/>
          </a:prstGeom>
          <a:noFill/>
        </p:spPr>
        <p:txBody>
          <a:bodyPr wrap="square" rtlCol="0">
            <a:spAutoFit/>
          </a:bodyPr>
          <a:lstStyle/>
          <a:p>
            <a:r>
              <a:rPr lang="en-IN" sz="3600" dirty="0">
                <a:solidFill>
                  <a:schemeClr val="bg1"/>
                </a:solidFill>
              </a:rPr>
              <a:t>:</a:t>
            </a:r>
          </a:p>
        </p:txBody>
      </p:sp>
      <p:pic>
        <p:nvPicPr>
          <p:cNvPr id="11" name="Picture 10">
            <a:extLst>
              <a:ext uri="{FF2B5EF4-FFF2-40B4-BE49-F238E27FC236}">
                <a16:creationId xmlns:a16="http://schemas.microsoft.com/office/drawing/2014/main" id="{3BDCCB08-9C17-1029-C80D-105A748B27F0}"/>
              </a:ext>
            </a:extLst>
          </p:cNvPr>
          <p:cNvPicPr>
            <a:picLocks noChangeAspect="1"/>
          </p:cNvPicPr>
          <p:nvPr/>
        </p:nvPicPr>
        <p:blipFill>
          <a:blip r:embed="rId4"/>
          <a:stretch>
            <a:fillRect/>
          </a:stretch>
        </p:blipFill>
        <p:spPr>
          <a:xfrm>
            <a:off x="7404721" y="2190576"/>
            <a:ext cx="4378307" cy="3143689"/>
          </a:xfrm>
          <a:prstGeom prst="rect">
            <a:avLst/>
          </a:prstGeom>
        </p:spPr>
      </p:pic>
    </p:spTree>
    <p:extLst>
      <p:ext uri="{BB962C8B-B14F-4D97-AF65-F5344CB8AC3E}">
        <p14:creationId xmlns:p14="http://schemas.microsoft.com/office/powerpoint/2010/main" val="3300916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par>
                                <p:cTn id="17" presetID="22" presetClass="entr" presetSubtype="4"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00"/>
                                        <p:tgtEl>
                                          <p:spTgt spid="4"/>
                                        </p:tgtEl>
                                      </p:cBhvr>
                                    </p:animEffect>
                                  </p:childTnLst>
                                </p:cTn>
                              </p:par>
                              <p:par>
                                <p:cTn id="20" presetID="22" presetClass="entr" presetSubtype="4"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C2E394-1EE6-FFF2-460E-C70996905350}"/>
              </a:ext>
            </a:extLst>
          </p:cNvPr>
          <p:cNvSpPr txBox="1"/>
          <p:nvPr/>
        </p:nvSpPr>
        <p:spPr>
          <a:xfrm>
            <a:off x="1379034" y="568247"/>
            <a:ext cx="9433932" cy="400110"/>
          </a:xfrm>
          <a:prstGeom prst="rect">
            <a:avLst/>
          </a:prstGeom>
          <a:noFill/>
        </p:spPr>
        <p:txBody>
          <a:bodyPr wrap="square" rtlCol="0">
            <a:spAutoFit/>
          </a:bodyPr>
          <a:lstStyle/>
          <a:p>
            <a:pPr algn="ctr"/>
            <a:r>
              <a:rPr lang="en-IN" sz="2000" b="1" dirty="0">
                <a:solidFill>
                  <a:schemeClr val="bg1"/>
                </a:solidFill>
              </a:rPr>
              <a:t>VISUAL REPRESENTATION OF CONVERGENCE THROUGH STEEPEST DESCENT METHOD</a:t>
            </a:r>
          </a:p>
        </p:txBody>
      </p:sp>
      <p:pic>
        <p:nvPicPr>
          <p:cNvPr id="7170" name="Picture 2">
            <a:extLst>
              <a:ext uri="{FF2B5EF4-FFF2-40B4-BE49-F238E27FC236}">
                <a16:creationId xmlns:a16="http://schemas.microsoft.com/office/drawing/2014/main" id="{004C442F-7DE9-FE3D-0DD4-C3DBFF6DE4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3687" y="1188334"/>
            <a:ext cx="10004625" cy="5002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0047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AFF174-2E76-C285-DDA7-092C747422F9}"/>
              </a:ext>
            </a:extLst>
          </p:cNvPr>
          <p:cNvSpPr txBox="1"/>
          <p:nvPr/>
        </p:nvSpPr>
        <p:spPr>
          <a:xfrm>
            <a:off x="780585" y="395512"/>
            <a:ext cx="8028879" cy="461665"/>
          </a:xfrm>
          <a:prstGeom prst="rect">
            <a:avLst/>
          </a:prstGeom>
          <a:noFill/>
        </p:spPr>
        <p:txBody>
          <a:bodyPr wrap="square" rtlCol="0">
            <a:spAutoFit/>
          </a:bodyPr>
          <a:lstStyle/>
          <a:p>
            <a:r>
              <a:rPr lang="en-IN" sz="2400" b="1" dirty="0">
                <a:solidFill>
                  <a:schemeClr val="bg1"/>
                </a:solidFill>
              </a:rPr>
              <a:t>APPLYING USER DEFINED TECHNIQUE</a:t>
            </a:r>
          </a:p>
        </p:txBody>
      </p:sp>
      <p:sp>
        <p:nvSpPr>
          <p:cNvPr id="3" name="TextBox 2">
            <a:extLst>
              <a:ext uri="{FF2B5EF4-FFF2-40B4-BE49-F238E27FC236}">
                <a16:creationId xmlns:a16="http://schemas.microsoft.com/office/drawing/2014/main" id="{6E243628-44AD-C849-9513-F91E4B9351E9}"/>
              </a:ext>
            </a:extLst>
          </p:cNvPr>
          <p:cNvSpPr txBox="1"/>
          <p:nvPr/>
        </p:nvSpPr>
        <p:spPr>
          <a:xfrm>
            <a:off x="780585" y="938252"/>
            <a:ext cx="10452410" cy="1200329"/>
          </a:xfrm>
          <a:prstGeom prst="rect">
            <a:avLst/>
          </a:prstGeom>
          <a:noFill/>
        </p:spPr>
        <p:txBody>
          <a:bodyPr wrap="square" rtlCol="0">
            <a:spAutoFit/>
          </a:bodyPr>
          <a:lstStyle/>
          <a:p>
            <a:r>
              <a:rPr lang="en-IN" dirty="0">
                <a:solidFill>
                  <a:schemeClr val="bg1"/>
                </a:solidFill>
              </a:rPr>
              <a:t>Here, in each step, we calculate the </a:t>
            </a:r>
            <a:r>
              <a:rPr lang="en-IN" b="1" u="sng" dirty="0">
                <a:solidFill>
                  <a:schemeClr val="bg1"/>
                </a:solidFill>
              </a:rPr>
              <a:t>step length using the Golden-Section method.</a:t>
            </a:r>
          </a:p>
          <a:p>
            <a:endParaRPr lang="en-IN" b="1" u="sng" dirty="0">
              <a:solidFill>
                <a:schemeClr val="bg1"/>
              </a:solidFill>
            </a:endParaRPr>
          </a:p>
          <a:p>
            <a:r>
              <a:rPr lang="en-IN" dirty="0">
                <a:solidFill>
                  <a:schemeClr val="bg1"/>
                </a:solidFill>
              </a:rPr>
              <a:t>Thus we incorporate golden-section method into the steepest descent optimization technique and try to find out the optimum values of the predictors, and hence the value of </a:t>
            </a:r>
            <a:r>
              <a:rPr lang="en-IN" dirty="0" err="1">
                <a:solidFill>
                  <a:schemeClr val="bg1"/>
                </a:solidFill>
              </a:rPr>
              <a:t>DefectRate</a:t>
            </a:r>
            <a:r>
              <a:rPr lang="en-IN" dirty="0">
                <a:solidFill>
                  <a:schemeClr val="bg1"/>
                </a:solidFill>
              </a:rPr>
              <a:t>.</a:t>
            </a:r>
          </a:p>
        </p:txBody>
      </p:sp>
      <p:pic>
        <p:nvPicPr>
          <p:cNvPr id="5" name="Picture 4">
            <a:extLst>
              <a:ext uri="{FF2B5EF4-FFF2-40B4-BE49-F238E27FC236}">
                <a16:creationId xmlns:a16="http://schemas.microsoft.com/office/drawing/2014/main" id="{A3344623-3CDA-ABBC-5CDE-902A8F53C2D5}"/>
              </a:ext>
            </a:extLst>
          </p:cNvPr>
          <p:cNvPicPr>
            <a:picLocks noChangeAspect="1"/>
          </p:cNvPicPr>
          <p:nvPr/>
        </p:nvPicPr>
        <p:blipFill>
          <a:blip r:embed="rId2"/>
          <a:stretch>
            <a:fillRect/>
          </a:stretch>
        </p:blipFill>
        <p:spPr>
          <a:xfrm>
            <a:off x="501807" y="2902557"/>
            <a:ext cx="5954750" cy="1554684"/>
          </a:xfrm>
          <a:prstGeom prst="rect">
            <a:avLst/>
          </a:prstGeom>
        </p:spPr>
      </p:pic>
      <p:pic>
        <p:nvPicPr>
          <p:cNvPr id="7" name="Picture 6">
            <a:extLst>
              <a:ext uri="{FF2B5EF4-FFF2-40B4-BE49-F238E27FC236}">
                <a16:creationId xmlns:a16="http://schemas.microsoft.com/office/drawing/2014/main" id="{5BAA0303-2E6C-8848-4A8A-1E9262E20161}"/>
              </a:ext>
            </a:extLst>
          </p:cNvPr>
          <p:cNvPicPr>
            <a:picLocks noChangeAspect="1"/>
          </p:cNvPicPr>
          <p:nvPr/>
        </p:nvPicPr>
        <p:blipFill>
          <a:blip r:embed="rId3"/>
          <a:stretch>
            <a:fillRect/>
          </a:stretch>
        </p:blipFill>
        <p:spPr>
          <a:xfrm>
            <a:off x="501807" y="5009008"/>
            <a:ext cx="5954750" cy="1465022"/>
          </a:xfrm>
          <a:prstGeom prst="rect">
            <a:avLst/>
          </a:prstGeom>
        </p:spPr>
      </p:pic>
      <p:sp>
        <p:nvSpPr>
          <p:cNvPr id="8" name="TextBox 7">
            <a:extLst>
              <a:ext uri="{FF2B5EF4-FFF2-40B4-BE49-F238E27FC236}">
                <a16:creationId xmlns:a16="http://schemas.microsoft.com/office/drawing/2014/main" id="{F0E2AA3D-1C6E-CBB8-138C-8981BF4116CB}"/>
              </a:ext>
            </a:extLst>
          </p:cNvPr>
          <p:cNvSpPr txBox="1"/>
          <p:nvPr/>
        </p:nvSpPr>
        <p:spPr>
          <a:xfrm>
            <a:off x="3908385" y="2409733"/>
            <a:ext cx="4375230" cy="369332"/>
          </a:xfrm>
          <a:prstGeom prst="rect">
            <a:avLst/>
          </a:prstGeom>
          <a:noFill/>
        </p:spPr>
        <p:txBody>
          <a:bodyPr wrap="square" rtlCol="0">
            <a:spAutoFit/>
          </a:bodyPr>
          <a:lstStyle/>
          <a:p>
            <a:r>
              <a:rPr lang="en-IN" b="1" dirty="0">
                <a:solidFill>
                  <a:schemeClr val="accent4">
                    <a:lumMod val="40000"/>
                    <a:lumOff val="60000"/>
                  </a:schemeClr>
                </a:solidFill>
              </a:rPr>
              <a:t>RESULTS OBTAINED (TOTAL 500 ITERATIONS)</a:t>
            </a:r>
          </a:p>
        </p:txBody>
      </p:sp>
      <p:sp>
        <p:nvSpPr>
          <p:cNvPr id="9" name="TextBox 8">
            <a:extLst>
              <a:ext uri="{FF2B5EF4-FFF2-40B4-BE49-F238E27FC236}">
                <a16:creationId xmlns:a16="http://schemas.microsoft.com/office/drawing/2014/main" id="{37B935D7-1F0D-E106-83FE-00AFEB1DA7BE}"/>
              </a:ext>
            </a:extLst>
          </p:cNvPr>
          <p:cNvSpPr txBox="1"/>
          <p:nvPr/>
        </p:nvSpPr>
        <p:spPr>
          <a:xfrm>
            <a:off x="780585" y="4548458"/>
            <a:ext cx="596802" cy="369332"/>
          </a:xfrm>
          <a:prstGeom prst="rect">
            <a:avLst/>
          </a:prstGeom>
          <a:noFill/>
        </p:spPr>
        <p:txBody>
          <a:bodyPr wrap="square" rtlCol="0">
            <a:spAutoFit/>
          </a:bodyPr>
          <a:lstStyle/>
          <a:p>
            <a:r>
              <a:rPr lang="en-IN" dirty="0">
                <a:solidFill>
                  <a:schemeClr val="bg1"/>
                </a:solidFill>
              </a:rPr>
              <a:t>:</a:t>
            </a:r>
          </a:p>
        </p:txBody>
      </p:sp>
      <p:pic>
        <p:nvPicPr>
          <p:cNvPr id="13" name="Picture 12">
            <a:extLst>
              <a:ext uri="{FF2B5EF4-FFF2-40B4-BE49-F238E27FC236}">
                <a16:creationId xmlns:a16="http://schemas.microsoft.com/office/drawing/2014/main" id="{ABEE2EA3-3BED-ADEB-53F4-6E4A85C298C0}"/>
              </a:ext>
            </a:extLst>
          </p:cNvPr>
          <p:cNvPicPr>
            <a:picLocks noChangeAspect="1"/>
          </p:cNvPicPr>
          <p:nvPr/>
        </p:nvPicPr>
        <p:blipFill>
          <a:blip r:embed="rId4"/>
          <a:stretch>
            <a:fillRect/>
          </a:stretch>
        </p:blipFill>
        <p:spPr>
          <a:xfrm>
            <a:off x="6926709" y="3454782"/>
            <a:ext cx="4763484" cy="2378855"/>
          </a:xfrm>
          <a:prstGeom prst="rect">
            <a:avLst/>
          </a:prstGeom>
        </p:spPr>
      </p:pic>
    </p:spTree>
    <p:extLst>
      <p:ext uri="{BB962C8B-B14F-4D97-AF65-F5344CB8AC3E}">
        <p14:creationId xmlns:p14="http://schemas.microsoft.com/office/powerpoint/2010/main" val="295504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par>
                                <p:cTn id="18" presetID="22" presetClass="entr" presetSubtype="4"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500"/>
                                        <p:tgtEl>
                                          <p:spTgt spid="5"/>
                                        </p:tgtEl>
                                      </p:cBhvr>
                                    </p:animEffect>
                                  </p:childTnLst>
                                </p:cTn>
                              </p:par>
                              <p:par>
                                <p:cTn id="21" presetID="22" presetClass="entr" presetSubtype="4"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down)">
                                      <p:cBhvr>
                                        <p:cTn id="23" dur="500"/>
                                        <p:tgtEl>
                                          <p:spTgt spid="7"/>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down)">
                                      <p:cBhvr>
                                        <p:cTn id="26" dur="500"/>
                                        <p:tgtEl>
                                          <p:spTgt spid="9"/>
                                        </p:tgtEl>
                                      </p:cBhvr>
                                    </p:animEffect>
                                  </p:childTnLst>
                                </p:cTn>
                              </p:par>
                              <p:par>
                                <p:cTn id="27" presetID="22" presetClass="entr" presetSubtype="4"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down)">
                                      <p:cBhvr>
                                        <p:cTn id="2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2900B41-4545-240C-DFEE-0A425E4115AB}"/>
              </a:ext>
            </a:extLst>
          </p:cNvPr>
          <p:cNvGraphicFramePr>
            <a:graphicFrameLocks noGrp="1"/>
          </p:cNvGraphicFramePr>
          <p:nvPr>
            <p:extLst>
              <p:ext uri="{D42A27DB-BD31-4B8C-83A1-F6EECF244321}">
                <p14:modId xmlns:p14="http://schemas.microsoft.com/office/powerpoint/2010/main" val="222739803"/>
              </p:ext>
            </p:extLst>
          </p:nvPr>
        </p:nvGraphicFramePr>
        <p:xfrm>
          <a:off x="1034246" y="1648909"/>
          <a:ext cx="10077451" cy="2436954"/>
        </p:xfrm>
        <a:graphic>
          <a:graphicData uri="http://schemas.openxmlformats.org/drawingml/2006/table">
            <a:tbl>
              <a:tblPr>
                <a:tableStyleId>{5C22544A-7EE6-4342-B048-85BDC9FD1C3A}</a:tableStyleId>
              </a:tblPr>
              <a:tblGrid>
                <a:gridCol w="2258412">
                  <a:extLst>
                    <a:ext uri="{9D8B030D-6E8A-4147-A177-3AD203B41FA5}">
                      <a16:colId xmlns:a16="http://schemas.microsoft.com/office/drawing/2014/main" val="152348222"/>
                    </a:ext>
                  </a:extLst>
                </a:gridCol>
                <a:gridCol w="2656955">
                  <a:extLst>
                    <a:ext uri="{9D8B030D-6E8A-4147-A177-3AD203B41FA5}">
                      <a16:colId xmlns:a16="http://schemas.microsoft.com/office/drawing/2014/main" val="1683311665"/>
                    </a:ext>
                  </a:extLst>
                </a:gridCol>
                <a:gridCol w="2049651">
                  <a:extLst>
                    <a:ext uri="{9D8B030D-6E8A-4147-A177-3AD203B41FA5}">
                      <a16:colId xmlns:a16="http://schemas.microsoft.com/office/drawing/2014/main" val="3038051023"/>
                    </a:ext>
                  </a:extLst>
                </a:gridCol>
                <a:gridCol w="1916803">
                  <a:extLst>
                    <a:ext uri="{9D8B030D-6E8A-4147-A177-3AD203B41FA5}">
                      <a16:colId xmlns:a16="http://schemas.microsoft.com/office/drawing/2014/main" val="2119950778"/>
                    </a:ext>
                  </a:extLst>
                </a:gridCol>
                <a:gridCol w="1195630">
                  <a:extLst>
                    <a:ext uri="{9D8B030D-6E8A-4147-A177-3AD203B41FA5}">
                      <a16:colId xmlns:a16="http://schemas.microsoft.com/office/drawing/2014/main" val="102592799"/>
                    </a:ext>
                  </a:extLst>
                </a:gridCol>
              </a:tblGrid>
              <a:tr h="812318">
                <a:tc>
                  <a:txBody>
                    <a:bodyPr/>
                    <a:lstStyle/>
                    <a:p>
                      <a:pPr algn="ctr" fontAlgn="ctr">
                        <a:buNone/>
                      </a:pPr>
                      <a:r>
                        <a:rPr lang="en-US" sz="1800" u="none" strike="noStrike" dirty="0">
                          <a:effectLst/>
                        </a:rPr>
                        <a:t>Method</a:t>
                      </a:r>
                      <a:endParaRPr lang="en-IN" sz="1800" b="0" i="0" u="none" strike="noStrike" dirty="0">
                        <a:solidFill>
                          <a:srgbClr val="000000"/>
                        </a:solidFill>
                        <a:effectLst/>
                        <a:latin typeface="Cambria" panose="02040503050406030204" pitchFamily="18" charset="0"/>
                      </a:endParaRPr>
                    </a:p>
                  </a:txBody>
                  <a:tcPr marL="6350" marR="6350" marT="6350" marB="0" anchor="ctr"/>
                </a:tc>
                <a:tc>
                  <a:txBody>
                    <a:bodyPr/>
                    <a:lstStyle/>
                    <a:p>
                      <a:pPr algn="ctr" fontAlgn="ctr">
                        <a:buNone/>
                      </a:pPr>
                      <a:r>
                        <a:rPr lang="en-US" sz="1800" u="none" strike="noStrike" dirty="0">
                          <a:effectLst/>
                        </a:rPr>
                        <a:t>Type</a:t>
                      </a:r>
                      <a:endParaRPr lang="en-IN" sz="1800" b="0" i="0" u="none" strike="noStrike" dirty="0">
                        <a:solidFill>
                          <a:srgbClr val="000000"/>
                        </a:solidFill>
                        <a:effectLst/>
                        <a:latin typeface="Cambria" panose="02040503050406030204" pitchFamily="18" charset="0"/>
                      </a:endParaRPr>
                    </a:p>
                  </a:txBody>
                  <a:tcPr marL="6350" marR="6350" marT="6350" marB="0" anchor="ctr"/>
                </a:tc>
                <a:tc>
                  <a:txBody>
                    <a:bodyPr/>
                    <a:lstStyle/>
                    <a:p>
                      <a:pPr algn="ctr" fontAlgn="ctr">
                        <a:buNone/>
                      </a:pPr>
                      <a:r>
                        <a:rPr lang="en-US" sz="1800" u="none" strike="noStrike" dirty="0">
                          <a:effectLst/>
                        </a:rPr>
                        <a:t>Requires Gradient?</a:t>
                      </a:r>
                      <a:endParaRPr lang="en-IN" sz="1800" b="0" i="0" u="none" strike="noStrike" dirty="0">
                        <a:solidFill>
                          <a:srgbClr val="000000"/>
                        </a:solidFill>
                        <a:effectLst/>
                        <a:latin typeface="Cambria" panose="02040503050406030204" pitchFamily="18" charset="0"/>
                      </a:endParaRPr>
                    </a:p>
                  </a:txBody>
                  <a:tcPr marL="6350" marR="6350" marT="6350" marB="0" anchor="ctr"/>
                </a:tc>
                <a:tc>
                  <a:txBody>
                    <a:bodyPr/>
                    <a:lstStyle/>
                    <a:p>
                      <a:pPr algn="ctr" fontAlgn="ctr">
                        <a:buNone/>
                      </a:pPr>
                      <a:r>
                        <a:rPr lang="en-US" sz="1800" u="none" strike="noStrike" dirty="0">
                          <a:effectLst/>
                        </a:rPr>
                        <a:t>Convergence Speed</a:t>
                      </a:r>
                      <a:endParaRPr lang="en-IN" sz="1800" b="0" i="0" u="none" strike="noStrike" dirty="0">
                        <a:solidFill>
                          <a:srgbClr val="000000"/>
                        </a:solidFill>
                        <a:effectLst/>
                        <a:latin typeface="Cambria" panose="02040503050406030204" pitchFamily="18" charset="0"/>
                      </a:endParaRPr>
                    </a:p>
                  </a:txBody>
                  <a:tcPr marL="6350" marR="6350" marT="6350" marB="0" anchor="ctr"/>
                </a:tc>
                <a:tc>
                  <a:txBody>
                    <a:bodyPr/>
                    <a:lstStyle/>
                    <a:p>
                      <a:pPr algn="ctr" fontAlgn="ctr">
                        <a:buNone/>
                      </a:pPr>
                      <a:r>
                        <a:rPr lang="en-US" sz="1800" u="none" strike="noStrike">
                          <a:effectLst/>
                        </a:rPr>
                        <a:t>Accuracy</a:t>
                      </a:r>
                      <a:endParaRPr lang="en-IN" sz="1800" b="0" i="0" u="none" strike="noStrike">
                        <a:solidFill>
                          <a:srgbClr val="000000"/>
                        </a:solidFill>
                        <a:effectLst/>
                        <a:latin typeface="Cambria" panose="02040503050406030204" pitchFamily="18" charset="0"/>
                      </a:endParaRPr>
                    </a:p>
                  </a:txBody>
                  <a:tcPr marL="6350" marR="6350" marT="6350" marB="0" anchor="ctr"/>
                </a:tc>
                <a:extLst>
                  <a:ext uri="{0D108BD9-81ED-4DB2-BD59-A6C34878D82A}">
                    <a16:rowId xmlns:a16="http://schemas.microsoft.com/office/drawing/2014/main" val="3220102910"/>
                  </a:ext>
                </a:extLst>
              </a:tr>
              <a:tr h="812318">
                <a:tc>
                  <a:txBody>
                    <a:bodyPr/>
                    <a:lstStyle/>
                    <a:p>
                      <a:pPr algn="ctr" fontAlgn="ctr">
                        <a:buNone/>
                      </a:pPr>
                      <a:r>
                        <a:rPr lang="en-US" sz="1800" u="none" strike="noStrike" dirty="0">
                          <a:effectLst/>
                        </a:rPr>
                        <a:t>Golden Section Search</a:t>
                      </a:r>
                      <a:endParaRPr lang="en-IN" sz="1800" b="0" i="0" u="none" strike="noStrike" dirty="0">
                        <a:solidFill>
                          <a:srgbClr val="000000"/>
                        </a:solidFill>
                        <a:effectLst/>
                        <a:latin typeface="Cambria" panose="02040503050406030204" pitchFamily="18" charset="0"/>
                      </a:endParaRPr>
                    </a:p>
                  </a:txBody>
                  <a:tcPr marL="6350" marR="6350" marT="6350" marB="0" anchor="ctr"/>
                </a:tc>
                <a:tc>
                  <a:txBody>
                    <a:bodyPr/>
                    <a:lstStyle/>
                    <a:p>
                      <a:pPr algn="ctr" fontAlgn="ctr">
                        <a:buNone/>
                      </a:pPr>
                      <a:r>
                        <a:rPr lang="en-US" sz="1800" u="none" strike="noStrike" dirty="0">
                          <a:effectLst/>
                        </a:rPr>
                        <a:t>Direct Search</a:t>
                      </a:r>
                      <a:endParaRPr lang="en-IN" sz="1800" b="0" i="0" u="none" strike="noStrike" dirty="0">
                        <a:solidFill>
                          <a:srgbClr val="000000"/>
                        </a:solidFill>
                        <a:effectLst/>
                        <a:latin typeface="Cambria" panose="02040503050406030204" pitchFamily="18" charset="0"/>
                      </a:endParaRPr>
                    </a:p>
                  </a:txBody>
                  <a:tcPr marL="6350" marR="6350" marT="6350" marB="0" anchor="ctr"/>
                </a:tc>
                <a:tc>
                  <a:txBody>
                    <a:bodyPr/>
                    <a:lstStyle/>
                    <a:p>
                      <a:pPr algn="ctr" fontAlgn="ctr">
                        <a:buNone/>
                      </a:pPr>
                      <a:r>
                        <a:rPr lang="en-US" sz="1800" u="none" strike="noStrike" dirty="0">
                          <a:effectLst/>
                        </a:rPr>
                        <a:t>No</a:t>
                      </a:r>
                      <a:endParaRPr lang="en-IN" sz="1800" b="0" i="0" u="none" strike="noStrike" dirty="0">
                        <a:solidFill>
                          <a:srgbClr val="000000"/>
                        </a:solidFill>
                        <a:effectLst/>
                        <a:latin typeface="Cambria" panose="02040503050406030204" pitchFamily="18" charset="0"/>
                      </a:endParaRPr>
                    </a:p>
                  </a:txBody>
                  <a:tcPr marL="6350" marR="6350" marT="6350" marB="0" anchor="ctr"/>
                </a:tc>
                <a:tc>
                  <a:txBody>
                    <a:bodyPr/>
                    <a:lstStyle/>
                    <a:p>
                      <a:pPr algn="ctr" fontAlgn="ctr">
                        <a:buNone/>
                      </a:pPr>
                      <a:r>
                        <a:rPr lang="en-US" sz="1800" u="none" strike="noStrike" dirty="0">
                          <a:effectLst/>
                        </a:rPr>
                        <a:t>Fast</a:t>
                      </a:r>
                      <a:endParaRPr lang="en-IN" sz="1800" b="0" i="0" u="none" strike="noStrike" dirty="0">
                        <a:solidFill>
                          <a:srgbClr val="000000"/>
                        </a:solidFill>
                        <a:effectLst/>
                        <a:latin typeface="Cambria" panose="02040503050406030204" pitchFamily="18" charset="0"/>
                      </a:endParaRPr>
                    </a:p>
                  </a:txBody>
                  <a:tcPr marL="6350" marR="6350" marT="6350" marB="0" anchor="ctr"/>
                </a:tc>
                <a:tc>
                  <a:txBody>
                    <a:bodyPr/>
                    <a:lstStyle/>
                    <a:p>
                      <a:pPr algn="ctr" fontAlgn="ctr">
                        <a:buNone/>
                      </a:pPr>
                      <a:r>
                        <a:rPr lang="en-US" sz="1800" u="none" strike="noStrike" dirty="0">
                          <a:effectLst/>
                        </a:rPr>
                        <a:t>High</a:t>
                      </a:r>
                      <a:endParaRPr lang="en-IN" sz="1800" b="0" i="0" u="none" strike="noStrike" dirty="0">
                        <a:solidFill>
                          <a:srgbClr val="000000"/>
                        </a:solidFill>
                        <a:effectLst/>
                        <a:latin typeface="Cambria" panose="02040503050406030204" pitchFamily="18" charset="0"/>
                      </a:endParaRPr>
                    </a:p>
                  </a:txBody>
                  <a:tcPr marL="6350" marR="6350" marT="6350" marB="0" anchor="ctr"/>
                </a:tc>
                <a:extLst>
                  <a:ext uri="{0D108BD9-81ED-4DB2-BD59-A6C34878D82A}">
                    <a16:rowId xmlns:a16="http://schemas.microsoft.com/office/drawing/2014/main" val="494149532"/>
                  </a:ext>
                </a:extLst>
              </a:tr>
              <a:tr h="812318">
                <a:tc>
                  <a:txBody>
                    <a:bodyPr/>
                    <a:lstStyle/>
                    <a:p>
                      <a:pPr algn="ctr" fontAlgn="ctr">
                        <a:buNone/>
                      </a:pPr>
                      <a:r>
                        <a:rPr lang="en-US" sz="1800" u="none" strike="noStrike" dirty="0">
                          <a:effectLst/>
                        </a:rPr>
                        <a:t>Steepest Descent</a:t>
                      </a:r>
                      <a:endParaRPr lang="en-IN" sz="1800" b="0" i="0" u="none" strike="noStrike" dirty="0">
                        <a:solidFill>
                          <a:srgbClr val="000000"/>
                        </a:solidFill>
                        <a:effectLst/>
                        <a:latin typeface="Cambria" panose="02040503050406030204" pitchFamily="18" charset="0"/>
                      </a:endParaRPr>
                    </a:p>
                  </a:txBody>
                  <a:tcPr marL="6350" marR="6350" marT="6350" marB="0" anchor="ctr"/>
                </a:tc>
                <a:tc>
                  <a:txBody>
                    <a:bodyPr/>
                    <a:lstStyle/>
                    <a:p>
                      <a:pPr algn="ctr" fontAlgn="ctr">
                        <a:buNone/>
                      </a:pPr>
                      <a:r>
                        <a:rPr lang="en-US" sz="1800" u="none" strike="noStrike" dirty="0">
                          <a:effectLst/>
                        </a:rPr>
                        <a:t>Iterative (Gradient-based)</a:t>
                      </a:r>
                      <a:endParaRPr lang="en-IN" sz="1800" b="0" i="0" u="none" strike="noStrike" dirty="0">
                        <a:solidFill>
                          <a:srgbClr val="000000"/>
                        </a:solidFill>
                        <a:effectLst/>
                        <a:latin typeface="Cambria" panose="02040503050406030204" pitchFamily="18" charset="0"/>
                      </a:endParaRPr>
                    </a:p>
                  </a:txBody>
                  <a:tcPr marL="6350" marR="6350" marT="6350" marB="0" anchor="ctr"/>
                </a:tc>
                <a:tc>
                  <a:txBody>
                    <a:bodyPr/>
                    <a:lstStyle/>
                    <a:p>
                      <a:pPr algn="ctr" fontAlgn="ctr">
                        <a:buNone/>
                      </a:pPr>
                      <a:r>
                        <a:rPr lang="en-US" sz="1800" u="none" strike="noStrike" dirty="0">
                          <a:effectLst/>
                        </a:rPr>
                        <a:t>Yes</a:t>
                      </a:r>
                      <a:endParaRPr lang="en-IN" sz="1800" b="0" i="0" u="none" strike="noStrike" dirty="0">
                        <a:solidFill>
                          <a:srgbClr val="000000"/>
                        </a:solidFill>
                        <a:effectLst/>
                        <a:latin typeface="Cambria" panose="02040503050406030204" pitchFamily="18" charset="0"/>
                      </a:endParaRPr>
                    </a:p>
                  </a:txBody>
                  <a:tcPr marL="6350" marR="6350" marT="6350" marB="0" anchor="ctr"/>
                </a:tc>
                <a:tc>
                  <a:txBody>
                    <a:bodyPr/>
                    <a:lstStyle/>
                    <a:p>
                      <a:pPr algn="ctr" fontAlgn="ctr">
                        <a:buNone/>
                      </a:pPr>
                      <a:r>
                        <a:rPr lang="en-US" sz="1800" u="none" strike="noStrike">
                          <a:effectLst/>
                        </a:rPr>
                        <a:t>Moderate</a:t>
                      </a:r>
                      <a:endParaRPr lang="en-IN" sz="1800" b="0" i="0" u="none" strike="noStrike">
                        <a:solidFill>
                          <a:srgbClr val="000000"/>
                        </a:solidFill>
                        <a:effectLst/>
                        <a:latin typeface="Cambria" panose="02040503050406030204" pitchFamily="18" charset="0"/>
                      </a:endParaRPr>
                    </a:p>
                  </a:txBody>
                  <a:tcPr marL="6350" marR="6350" marT="6350" marB="0" anchor="ctr"/>
                </a:tc>
                <a:tc>
                  <a:txBody>
                    <a:bodyPr/>
                    <a:lstStyle/>
                    <a:p>
                      <a:pPr algn="ctr" fontAlgn="ctr">
                        <a:buNone/>
                      </a:pPr>
                      <a:r>
                        <a:rPr lang="en-US" sz="1800" u="none" strike="noStrike" dirty="0">
                          <a:effectLst/>
                        </a:rPr>
                        <a:t>High</a:t>
                      </a:r>
                      <a:endParaRPr lang="en-IN" sz="1800" b="0" i="0" u="none" strike="noStrike" dirty="0">
                        <a:solidFill>
                          <a:srgbClr val="000000"/>
                        </a:solidFill>
                        <a:effectLst/>
                        <a:latin typeface="Cambria" panose="02040503050406030204" pitchFamily="18" charset="0"/>
                      </a:endParaRPr>
                    </a:p>
                  </a:txBody>
                  <a:tcPr marL="6350" marR="6350" marT="6350" marB="0" anchor="ctr"/>
                </a:tc>
                <a:extLst>
                  <a:ext uri="{0D108BD9-81ED-4DB2-BD59-A6C34878D82A}">
                    <a16:rowId xmlns:a16="http://schemas.microsoft.com/office/drawing/2014/main" val="2323896245"/>
                  </a:ext>
                </a:extLst>
              </a:tr>
            </a:tbl>
          </a:graphicData>
        </a:graphic>
      </p:graphicFrame>
      <p:sp>
        <p:nvSpPr>
          <p:cNvPr id="6" name="TextBox 5">
            <a:extLst>
              <a:ext uri="{FF2B5EF4-FFF2-40B4-BE49-F238E27FC236}">
                <a16:creationId xmlns:a16="http://schemas.microsoft.com/office/drawing/2014/main" id="{F2E9C978-B76B-03B0-2EAC-F69B38FC7FFE}"/>
              </a:ext>
            </a:extLst>
          </p:cNvPr>
          <p:cNvSpPr txBox="1"/>
          <p:nvPr/>
        </p:nvSpPr>
        <p:spPr>
          <a:xfrm>
            <a:off x="0" y="477046"/>
            <a:ext cx="12192000" cy="584775"/>
          </a:xfrm>
          <a:prstGeom prst="rect">
            <a:avLst/>
          </a:prstGeom>
          <a:noFill/>
        </p:spPr>
        <p:txBody>
          <a:bodyPr wrap="square" rtlCol="0">
            <a:spAutoFit/>
          </a:bodyPr>
          <a:lstStyle/>
          <a:p>
            <a:pPr algn="ctr"/>
            <a:r>
              <a:rPr lang="en-IN" sz="3200" b="1" dirty="0">
                <a:solidFill>
                  <a:schemeClr val="accent4">
                    <a:lumMod val="40000"/>
                    <a:lumOff val="60000"/>
                  </a:schemeClr>
                </a:solidFill>
              </a:rPr>
              <a:t>COMPARISON OF METHODS</a:t>
            </a:r>
          </a:p>
        </p:txBody>
      </p:sp>
      <p:sp>
        <p:nvSpPr>
          <p:cNvPr id="7" name="TextBox 6">
            <a:extLst>
              <a:ext uri="{FF2B5EF4-FFF2-40B4-BE49-F238E27FC236}">
                <a16:creationId xmlns:a16="http://schemas.microsoft.com/office/drawing/2014/main" id="{16E58E4F-5344-4462-1992-BD4AF81882A2}"/>
              </a:ext>
            </a:extLst>
          </p:cNvPr>
          <p:cNvSpPr txBox="1"/>
          <p:nvPr/>
        </p:nvSpPr>
        <p:spPr>
          <a:xfrm>
            <a:off x="1034246" y="4849792"/>
            <a:ext cx="10077451" cy="1015663"/>
          </a:xfrm>
          <a:prstGeom prst="rect">
            <a:avLst/>
          </a:prstGeom>
          <a:noFill/>
        </p:spPr>
        <p:txBody>
          <a:bodyPr wrap="square" rtlCol="0">
            <a:spAutoFit/>
          </a:bodyPr>
          <a:lstStyle/>
          <a:p>
            <a:r>
              <a:rPr lang="en-US" sz="2000" b="1" dirty="0">
                <a:solidFill>
                  <a:schemeClr val="bg1"/>
                </a:solidFill>
              </a:rPr>
              <a:t>Both methods yielded nearly identical </a:t>
            </a:r>
            <a:r>
              <a:rPr lang="en-US" sz="2000" b="1" dirty="0" err="1">
                <a:solidFill>
                  <a:schemeClr val="bg1"/>
                </a:solidFill>
              </a:rPr>
              <a:t>DefectRate</a:t>
            </a:r>
            <a:r>
              <a:rPr lang="en-US" sz="2000" b="1" dirty="0">
                <a:solidFill>
                  <a:schemeClr val="bg1"/>
                </a:solidFill>
              </a:rPr>
              <a:t> minima (≈ 2.66–2.72). The Golden Section Search converged faster but applies only to a single variable, while the Steepest Descent Method allowed a multi-variable approach for realistic modeling.</a:t>
            </a:r>
            <a:endParaRPr lang="en-IN" sz="2000" b="1" dirty="0">
              <a:solidFill>
                <a:schemeClr val="bg1"/>
              </a:solidFill>
            </a:endParaRPr>
          </a:p>
        </p:txBody>
      </p:sp>
    </p:spTree>
    <p:extLst>
      <p:ext uri="{BB962C8B-B14F-4D97-AF65-F5344CB8AC3E}">
        <p14:creationId xmlns:p14="http://schemas.microsoft.com/office/powerpoint/2010/main" val="217994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271462-A06B-4248-2D5C-5B6C6877C813}"/>
              </a:ext>
            </a:extLst>
          </p:cNvPr>
          <p:cNvSpPr txBox="1"/>
          <p:nvPr/>
        </p:nvSpPr>
        <p:spPr>
          <a:xfrm>
            <a:off x="1338804" y="1539434"/>
            <a:ext cx="9668719" cy="3477875"/>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rPr>
              <a:t>This project aimed to minimize the manufacturing </a:t>
            </a:r>
            <a:r>
              <a:rPr lang="en-US" sz="2000" b="1" dirty="0">
                <a:solidFill>
                  <a:schemeClr val="bg1"/>
                </a:solidFill>
              </a:rPr>
              <a:t>Defect Rate</a:t>
            </a:r>
            <a:r>
              <a:rPr lang="en-US" sz="2000" dirty="0">
                <a:solidFill>
                  <a:schemeClr val="bg1"/>
                </a:solidFill>
              </a:rPr>
              <a:t> using a </a:t>
            </a:r>
            <a:r>
              <a:rPr lang="en-US" sz="2000" b="1" dirty="0">
                <a:solidFill>
                  <a:schemeClr val="bg1"/>
                </a:solidFill>
              </a:rPr>
              <a:t>Steepest Descent Optimization</a:t>
            </a:r>
            <a:r>
              <a:rPr lang="en-US" sz="2000" dirty="0">
                <a:solidFill>
                  <a:schemeClr val="bg1"/>
                </a:solidFill>
              </a:rPr>
              <a:t> method with </a:t>
            </a:r>
            <a:r>
              <a:rPr lang="en-US" sz="2000" b="1" dirty="0">
                <a:solidFill>
                  <a:schemeClr val="bg1"/>
                </a:solidFill>
              </a:rPr>
              <a:t>Exact Line Search</a:t>
            </a:r>
            <a:r>
              <a:rPr lang="en-US" sz="2000" dirty="0">
                <a:solidFill>
                  <a:schemeClr val="bg1"/>
                </a:solidFill>
              </a:rPr>
              <a:t> via the </a:t>
            </a:r>
            <a:r>
              <a:rPr lang="en-US" sz="2000" b="1" dirty="0">
                <a:solidFill>
                  <a:schemeClr val="bg1"/>
                </a:solidFill>
              </a:rPr>
              <a:t>Golden Section Search</a:t>
            </a:r>
            <a:r>
              <a:rPr lang="en-US" sz="2000" dirty="0">
                <a:solidFill>
                  <a:schemeClr val="bg1"/>
                </a:solidFill>
              </a:rPr>
              <a:t>. </a:t>
            </a:r>
          </a:p>
          <a:p>
            <a:pPr marL="342900" indent="-342900">
              <a:buFont typeface="Arial" panose="020B0604020202020204" pitchFamily="34" charset="0"/>
              <a:buChar char="•"/>
            </a:pPr>
            <a:endParaRPr lang="en-US" sz="2000" dirty="0">
              <a:solidFill>
                <a:schemeClr val="bg1"/>
              </a:solidFill>
            </a:endParaRPr>
          </a:p>
          <a:p>
            <a:pPr marL="342900" indent="-342900">
              <a:buFont typeface="Arial" panose="020B0604020202020204" pitchFamily="34" charset="0"/>
              <a:buChar char="•"/>
            </a:pPr>
            <a:r>
              <a:rPr lang="en-US" sz="2000" dirty="0">
                <a:solidFill>
                  <a:schemeClr val="bg1"/>
                </a:solidFill>
              </a:rPr>
              <a:t>A </a:t>
            </a:r>
            <a:r>
              <a:rPr lang="en-US" sz="2000" b="1" dirty="0">
                <a:solidFill>
                  <a:schemeClr val="bg1"/>
                </a:solidFill>
              </a:rPr>
              <a:t>quadratic regression model</a:t>
            </a:r>
            <a:r>
              <a:rPr lang="en-US" sz="2000" dirty="0">
                <a:solidFill>
                  <a:schemeClr val="bg1"/>
                </a:solidFill>
              </a:rPr>
              <a:t> was developed to express the defect rate as a function of </a:t>
            </a:r>
            <a:r>
              <a:rPr lang="en-US" sz="2000" b="1" dirty="0">
                <a:solidFill>
                  <a:schemeClr val="bg1"/>
                </a:solidFill>
              </a:rPr>
              <a:t>Maintenance Hours, Production Volume, Additive Process Time,</a:t>
            </a:r>
            <a:r>
              <a:rPr lang="en-US" sz="2000" dirty="0">
                <a:solidFill>
                  <a:schemeClr val="bg1"/>
                </a:solidFill>
              </a:rPr>
              <a:t> and </a:t>
            </a:r>
            <a:r>
              <a:rPr lang="en-US" sz="2000" b="1" dirty="0">
                <a:solidFill>
                  <a:schemeClr val="bg1"/>
                </a:solidFill>
              </a:rPr>
              <a:t>Quality Score</a:t>
            </a:r>
            <a:r>
              <a:rPr lang="en-US" sz="2000" dirty="0">
                <a:solidFill>
                  <a:schemeClr val="bg1"/>
                </a:solidFill>
              </a:rPr>
              <a:t>. The optimization efficiently converged to a minimum, revealing that </a:t>
            </a:r>
            <a:r>
              <a:rPr lang="en-US" sz="2000" b="1" dirty="0">
                <a:solidFill>
                  <a:schemeClr val="bg1"/>
                </a:solidFill>
              </a:rPr>
              <a:t>Maintenance Hours</a:t>
            </a:r>
            <a:r>
              <a:rPr lang="en-US" sz="2000" dirty="0">
                <a:solidFill>
                  <a:schemeClr val="bg1"/>
                </a:solidFill>
              </a:rPr>
              <a:t> had the strongest influence on defect rate due to its direct impact on machine reliability and production quality. </a:t>
            </a:r>
          </a:p>
          <a:p>
            <a:pPr marL="342900" indent="-342900">
              <a:buFont typeface="Arial" panose="020B0604020202020204" pitchFamily="34" charset="0"/>
              <a:buChar char="•"/>
            </a:pPr>
            <a:endParaRPr lang="en-US" sz="2000" dirty="0">
              <a:solidFill>
                <a:schemeClr val="bg1"/>
              </a:solidFill>
            </a:endParaRPr>
          </a:p>
          <a:p>
            <a:pPr marL="342900" indent="-342900">
              <a:buFont typeface="Arial" panose="020B0604020202020204" pitchFamily="34" charset="0"/>
              <a:buChar char="•"/>
            </a:pPr>
            <a:r>
              <a:rPr lang="en-US" sz="2000" dirty="0">
                <a:solidFill>
                  <a:schemeClr val="bg1"/>
                </a:solidFill>
              </a:rPr>
              <a:t>The results highlight that combining </a:t>
            </a:r>
            <a:r>
              <a:rPr lang="en-US" sz="2000" b="1" dirty="0">
                <a:solidFill>
                  <a:schemeClr val="bg1"/>
                </a:solidFill>
              </a:rPr>
              <a:t>statistical modeling</a:t>
            </a:r>
            <a:r>
              <a:rPr lang="en-US" sz="2000" dirty="0">
                <a:solidFill>
                  <a:schemeClr val="bg1"/>
                </a:solidFill>
              </a:rPr>
              <a:t> with </a:t>
            </a:r>
            <a:r>
              <a:rPr lang="en-US" sz="2000" b="1" dirty="0">
                <a:solidFill>
                  <a:schemeClr val="bg1"/>
                </a:solidFill>
              </a:rPr>
              <a:t>numerical optimization</a:t>
            </a:r>
            <a:r>
              <a:rPr lang="en-US" sz="2000" dirty="0">
                <a:solidFill>
                  <a:schemeClr val="bg1"/>
                </a:solidFill>
              </a:rPr>
              <a:t> provides a powerful approach for data-driven process improvement and quality control.</a:t>
            </a:r>
            <a:endParaRPr lang="en-IN" sz="2000" dirty="0">
              <a:solidFill>
                <a:schemeClr val="bg1"/>
              </a:solidFill>
            </a:endParaRPr>
          </a:p>
        </p:txBody>
      </p:sp>
      <p:sp>
        <p:nvSpPr>
          <p:cNvPr id="3" name="TextBox 2">
            <a:extLst>
              <a:ext uri="{FF2B5EF4-FFF2-40B4-BE49-F238E27FC236}">
                <a16:creationId xmlns:a16="http://schemas.microsoft.com/office/drawing/2014/main" id="{1F6262E5-4283-01A5-3826-6E58CD35FBA5}"/>
              </a:ext>
            </a:extLst>
          </p:cNvPr>
          <p:cNvSpPr txBox="1"/>
          <p:nvPr/>
        </p:nvSpPr>
        <p:spPr>
          <a:xfrm>
            <a:off x="0" y="477046"/>
            <a:ext cx="12192000" cy="584775"/>
          </a:xfrm>
          <a:prstGeom prst="rect">
            <a:avLst/>
          </a:prstGeom>
          <a:noFill/>
        </p:spPr>
        <p:txBody>
          <a:bodyPr wrap="square" rtlCol="0">
            <a:spAutoFit/>
          </a:bodyPr>
          <a:lstStyle/>
          <a:p>
            <a:pPr algn="ctr"/>
            <a:r>
              <a:rPr lang="en-IN" sz="3200" b="1" dirty="0">
                <a:solidFill>
                  <a:schemeClr val="accent4">
                    <a:lumMod val="40000"/>
                    <a:lumOff val="60000"/>
                  </a:schemeClr>
                </a:solidFill>
              </a:rPr>
              <a:t>CONCLUSION</a:t>
            </a:r>
          </a:p>
        </p:txBody>
      </p:sp>
    </p:spTree>
    <p:extLst>
      <p:ext uri="{BB962C8B-B14F-4D97-AF65-F5344CB8AC3E}">
        <p14:creationId xmlns:p14="http://schemas.microsoft.com/office/powerpoint/2010/main" val="3633641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04B757-8555-44AE-D59B-9AB826085C49}"/>
              </a:ext>
            </a:extLst>
          </p:cNvPr>
          <p:cNvSpPr txBox="1"/>
          <p:nvPr/>
        </p:nvSpPr>
        <p:spPr>
          <a:xfrm>
            <a:off x="1373528" y="1493135"/>
            <a:ext cx="9668719" cy="4401205"/>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1"/>
                </a:solidFill>
              </a:rPr>
              <a:t>A quadratic regression model effectively captured the complex relationships among process variables.</a:t>
            </a:r>
          </a:p>
          <a:p>
            <a:pPr marL="342900" indent="-342900">
              <a:buFont typeface="Arial" panose="020B0604020202020204" pitchFamily="34" charset="0"/>
              <a:buChar char="•"/>
            </a:pPr>
            <a:endParaRPr lang="en-US" sz="2000" dirty="0">
              <a:solidFill>
                <a:schemeClr val="bg1"/>
              </a:solidFill>
            </a:endParaRPr>
          </a:p>
          <a:p>
            <a:pPr marL="342900" indent="-342900">
              <a:buFont typeface="Arial" panose="020B0604020202020204" pitchFamily="34" charset="0"/>
              <a:buChar char="•"/>
            </a:pPr>
            <a:r>
              <a:rPr lang="en-US" sz="2000" dirty="0">
                <a:solidFill>
                  <a:schemeClr val="bg1"/>
                </a:solidFill>
              </a:rPr>
              <a:t>The steepest descent algorithm provided a systematic approach to reach the minimum defect rate.</a:t>
            </a:r>
          </a:p>
          <a:p>
            <a:pPr marL="342900" indent="-342900">
              <a:buFont typeface="Arial" panose="020B0604020202020204" pitchFamily="34" charset="0"/>
              <a:buChar char="•"/>
            </a:pPr>
            <a:endParaRPr lang="en-US" sz="2000" dirty="0">
              <a:solidFill>
                <a:schemeClr val="bg1"/>
              </a:solidFill>
            </a:endParaRPr>
          </a:p>
          <a:p>
            <a:pPr marL="342900" indent="-342900">
              <a:buFont typeface="Arial" panose="020B0604020202020204" pitchFamily="34" charset="0"/>
              <a:buChar char="•"/>
            </a:pPr>
            <a:r>
              <a:rPr lang="en-US" sz="2000" dirty="0">
                <a:solidFill>
                  <a:schemeClr val="bg1"/>
                </a:solidFill>
              </a:rPr>
              <a:t>Exact line search via Golden Section Search ensured precise step size selection and smooth convergence.</a:t>
            </a:r>
          </a:p>
          <a:p>
            <a:pPr marL="342900" indent="-342900">
              <a:buFont typeface="Arial" panose="020B0604020202020204" pitchFamily="34" charset="0"/>
              <a:buChar char="•"/>
            </a:pPr>
            <a:endParaRPr lang="en-US" sz="2000" dirty="0">
              <a:solidFill>
                <a:schemeClr val="bg1"/>
              </a:solidFill>
            </a:endParaRPr>
          </a:p>
          <a:p>
            <a:pPr marL="342900" indent="-342900">
              <a:buFont typeface="Arial" panose="020B0604020202020204" pitchFamily="34" charset="0"/>
              <a:buChar char="•"/>
            </a:pPr>
            <a:r>
              <a:rPr lang="en-US" sz="2000" dirty="0">
                <a:solidFill>
                  <a:schemeClr val="bg1"/>
                </a:solidFill>
              </a:rPr>
              <a:t>Maintenance Hours was found to have the highest sensitivity and influence on defect rate minimization.</a:t>
            </a:r>
          </a:p>
          <a:p>
            <a:pPr marL="342900" indent="-342900">
              <a:buFont typeface="Arial" panose="020B0604020202020204" pitchFamily="34" charset="0"/>
              <a:buChar char="•"/>
            </a:pPr>
            <a:endParaRPr lang="en-US" sz="2000" dirty="0">
              <a:solidFill>
                <a:schemeClr val="bg1"/>
              </a:solidFill>
            </a:endParaRPr>
          </a:p>
          <a:p>
            <a:pPr marL="342900" indent="-342900">
              <a:buFont typeface="Arial" panose="020B0604020202020204" pitchFamily="34" charset="0"/>
              <a:buChar char="•"/>
            </a:pPr>
            <a:r>
              <a:rPr lang="en-US" sz="2000" dirty="0">
                <a:solidFill>
                  <a:schemeClr val="bg1"/>
                </a:solidFill>
              </a:rPr>
              <a:t>The final optimized parameter values offer actionable insights for reducing defects and improving manufacturing efficiency.</a:t>
            </a:r>
            <a:endParaRPr lang="en-IN" sz="2000" dirty="0">
              <a:solidFill>
                <a:schemeClr val="bg1"/>
              </a:solidFill>
            </a:endParaRPr>
          </a:p>
        </p:txBody>
      </p:sp>
      <p:sp>
        <p:nvSpPr>
          <p:cNvPr id="3" name="TextBox 2">
            <a:extLst>
              <a:ext uri="{FF2B5EF4-FFF2-40B4-BE49-F238E27FC236}">
                <a16:creationId xmlns:a16="http://schemas.microsoft.com/office/drawing/2014/main" id="{34F34373-FEB9-0A51-DCFE-2898CCADEAD4}"/>
              </a:ext>
            </a:extLst>
          </p:cNvPr>
          <p:cNvSpPr txBox="1"/>
          <p:nvPr/>
        </p:nvSpPr>
        <p:spPr>
          <a:xfrm>
            <a:off x="0" y="477046"/>
            <a:ext cx="12192000" cy="584775"/>
          </a:xfrm>
          <a:prstGeom prst="rect">
            <a:avLst/>
          </a:prstGeom>
          <a:noFill/>
        </p:spPr>
        <p:txBody>
          <a:bodyPr wrap="square" rtlCol="0">
            <a:spAutoFit/>
          </a:bodyPr>
          <a:lstStyle/>
          <a:p>
            <a:pPr algn="ctr"/>
            <a:r>
              <a:rPr lang="en-IN" sz="3200" b="1" dirty="0">
                <a:solidFill>
                  <a:schemeClr val="accent4">
                    <a:lumMod val="40000"/>
                    <a:lumOff val="60000"/>
                  </a:schemeClr>
                </a:solidFill>
              </a:rPr>
              <a:t>KEY TAKEAWAYS</a:t>
            </a:r>
          </a:p>
        </p:txBody>
      </p:sp>
    </p:spTree>
    <p:extLst>
      <p:ext uri="{BB962C8B-B14F-4D97-AF65-F5344CB8AC3E}">
        <p14:creationId xmlns:p14="http://schemas.microsoft.com/office/powerpoint/2010/main" val="4226310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18D2F7-34AF-D7C9-1B84-2537305622B7}"/>
              </a:ext>
            </a:extLst>
          </p:cNvPr>
          <p:cNvSpPr txBox="1"/>
          <p:nvPr/>
        </p:nvSpPr>
        <p:spPr>
          <a:xfrm>
            <a:off x="0" y="374306"/>
            <a:ext cx="12192000" cy="584775"/>
          </a:xfrm>
          <a:prstGeom prst="rect">
            <a:avLst/>
          </a:prstGeom>
          <a:noFill/>
        </p:spPr>
        <p:txBody>
          <a:bodyPr wrap="square" rtlCol="0">
            <a:spAutoFit/>
          </a:bodyPr>
          <a:lstStyle/>
          <a:p>
            <a:pPr algn="ctr"/>
            <a:r>
              <a:rPr lang="en-IN" sz="3200" b="1" dirty="0">
                <a:solidFill>
                  <a:schemeClr val="accent4">
                    <a:lumMod val="40000"/>
                    <a:lumOff val="60000"/>
                  </a:schemeClr>
                </a:solidFill>
              </a:rPr>
              <a:t>FUTURE SCOPE</a:t>
            </a:r>
          </a:p>
        </p:txBody>
      </p:sp>
      <p:sp>
        <p:nvSpPr>
          <p:cNvPr id="3" name="TextBox 2">
            <a:extLst>
              <a:ext uri="{FF2B5EF4-FFF2-40B4-BE49-F238E27FC236}">
                <a16:creationId xmlns:a16="http://schemas.microsoft.com/office/drawing/2014/main" id="{148BEF6F-7AAC-2149-45CE-3BEA646B96CC}"/>
              </a:ext>
            </a:extLst>
          </p:cNvPr>
          <p:cNvSpPr txBox="1"/>
          <p:nvPr/>
        </p:nvSpPr>
        <p:spPr>
          <a:xfrm>
            <a:off x="1000018" y="999978"/>
            <a:ext cx="10191964" cy="5632311"/>
          </a:xfrm>
          <a:prstGeom prst="rect">
            <a:avLst/>
          </a:prstGeom>
          <a:noFill/>
        </p:spPr>
        <p:txBody>
          <a:bodyPr wrap="square" rtlCol="0">
            <a:spAutoFit/>
          </a:bodyPr>
          <a:lstStyle/>
          <a:p>
            <a:pPr marL="285750" indent="-285750">
              <a:buFont typeface="Arial" panose="020B0604020202020204" pitchFamily="34" charset="0"/>
              <a:buChar char="•"/>
            </a:pPr>
            <a:r>
              <a:rPr lang="en-IN" b="1" dirty="0">
                <a:solidFill>
                  <a:schemeClr val="bg1"/>
                </a:solidFill>
              </a:rPr>
              <a:t>Incorporation of Constraints:</a:t>
            </a:r>
            <a:br>
              <a:rPr lang="en-IN" dirty="0">
                <a:solidFill>
                  <a:schemeClr val="bg1"/>
                </a:solidFill>
              </a:rPr>
            </a:br>
            <a:r>
              <a:rPr lang="en-IN" dirty="0">
                <a:solidFill>
                  <a:schemeClr val="bg1"/>
                </a:solidFill>
              </a:rPr>
              <a:t>The current study used unconstrained optimization. Future work can include realistic operational limits such as resource availability, machine capacity, or safety thresholds using </a:t>
            </a:r>
            <a:r>
              <a:rPr lang="en-IN" b="1" dirty="0">
                <a:solidFill>
                  <a:schemeClr val="bg1"/>
                </a:solidFill>
              </a:rPr>
              <a:t>constrained optimization techniques</a:t>
            </a:r>
            <a:r>
              <a:rPr lang="en-IN" dirty="0">
                <a:solidFill>
                  <a:schemeClr val="bg1"/>
                </a:solidFill>
              </a:rPr>
              <a:t> (e.g., Lagrange multipliers or quadratic programming).</a:t>
            </a:r>
          </a:p>
          <a:p>
            <a:pPr marL="285750" indent="-285750">
              <a:buFont typeface="Arial" panose="020B0604020202020204" pitchFamily="34" charset="0"/>
              <a:buChar char="•"/>
            </a:pPr>
            <a:endParaRPr lang="en-IN" dirty="0">
              <a:solidFill>
                <a:schemeClr val="bg1"/>
              </a:solidFill>
            </a:endParaRPr>
          </a:p>
          <a:p>
            <a:pPr marL="285750" indent="-285750">
              <a:buFont typeface="Arial" panose="020B0604020202020204" pitchFamily="34" charset="0"/>
              <a:buChar char="•"/>
            </a:pPr>
            <a:r>
              <a:rPr lang="en-IN" b="1" dirty="0">
                <a:solidFill>
                  <a:schemeClr val="bg1"/>
                </a:solidFill>
              </a:rPr>
              <a:t>Extension to Other Optimization Algorithms:</a:t>
            </a:r>
            <a:br>
              <a:rPr lang="en-IN" dirty="0">
                <a:solidFill>
                  <a:schemeClr val="bg1"/>
                </a:solidFill>
              </a:rPr>
            </a:br>
            <a:r>
              <a:rPr lang="en-IN" dirty="0">
                <a:solidFill>
                  <a:schemeClr val="bg1"/>
                </a:solidFill>
              </a:rPr>
              <a:t>The performance of the Steepest Descent Method can be compared with more advanced algorithms like </a:t>
            </a:r>
            <a:r>
              <a:rPr lang="en-IN" b="1" dirty="0">
                <a:solidFill>
                  <a:schemeClr val="bg1"/>
                </a:solidFill>
              </a:rPr>
              <a:t>Newton’s Method</a:t>
            </a:r>
            <a:r>
              <a:rPr lang="en-IN" dirty="0">
                <a:solidFill>
                  <a:schemeClr val="bg1"/>
                </a:solidFill>
              </a:rPr>
              <a:t>, </a:t>
            </a:r>
            <a:r>
              <a:rPr lang="en-IN" b="1" dirty="0">
                <a:solidFill>
                  <a:schemeClr val="bg1"/>
                </a:solidFill>
              </a:rPr>
              <a:t>Conjugate Gradient</a:t>
            </a:r>
            <a:r>
              <a:rPr lang="en-IN" dirty="0">
                <a:solidFill>
                  <a:schemeClr val="bg1"/>
                </a:solidFill>
              </a:rPr>
              <a:t>, etc.</a:t>
            </a:r>
          </a:p>
          <a:p>
            <a:pPr marL="285750" indent="-285750">
              <a:buFont typeface="Arial" panose="020B0604020202020204" pitchFamily="34" charset="0"/>
              <a:buChar char="•"/>
            </a:pPr>
            <a:endParaRPr lang="en-IN" dirty="0">
              <a:solidFill>
                <a:schemeClr val="bg1"/>
              </a:solidFill>
            </a:endParaRPr>
          </a:p>
          <a:p>
            <a:pPr marL="285750" indent="-285750">
              <a:buFont typeface="Arial" panose="020B0604020202020204" pitchFamily="34" charset="0"/>
              <a:buChar char="•"/>
            </a:pPr>
            <a:r>
              <a:rPr lang="en-IN" b="1" dirty="0">
                <a:solidFill>
                  <a:schemeClr val="bg1"/>
                </a:solidFill>
              </a:rPr>
              <a:t>Integration with Real-Time Data:</a:t>
            </a:r>
            <a:br>
              <a:rPr lang="en-IN" dirty="0">
                <a:solidFill>
                  <a:schemeClr val="bg1"/>
                </a:solidFill>
              </a:rPr>
            </a:br>
            <a:r>
              <a:rPr lang="en-IN" dirty="0">
                <a:solidFill>
                  <a:schemeClr val="bg1"/>
                </a:solidFill>
              </a:rPr>
              <a:t>Future implementations can integrate live production data from IoT-enabled systems, allowing </a:t>
            </a:r>
            <a:r>
              <a:rPr lang="en-IN" b="1" dirty="0">
                <a:solidFill>
                  <a:schemeClr val="bg1"/>
                </a:solidFill>
              </a:rPr>
              <a:t>real-time defect prediction and dynamic optimization</a:t>
            </a:r>
            <a:r>
              <a:rPr lang="en-IN" dirty="0">
                <a:solidFill>
                  <a:schemeClr val="bg1"/>
                </a:solidFill>
              </a:rPr>
              <a:t> of process parameters.</a:t>
            </a:r>
          </a:p>
          <a:p>
            <a:pPr marL="285750" indent="-285750">
              <a:buFont typeface="Arial" panose="020B0604020202020204" pitchFamily="34" charset="0"/>
              <a:buChar char="•"/>
            </a:pPr>
            <a:endParaRPr lang="en-IN" dirty="0">
              <a:solidFill>
                <a:schemeClr val="bg1"/>
              </a:solidFill>
            </a:endParaRPr>
          </a:p>
          <a:p>
            <a:pPr marL="285750" indent="-285750">
              <a:buFont typeface="Arial" panose="020B0604020202020204" pitchFamily="34" charset="0"/>
              <a:buChar char="•"/>
            </a:pPr>
            <a:r>
              <a:rPr lang="en-IN" b="1" dirty="0">
                <a:solidFill>
                  <a:schemeClr val="bg1"/>
                </a:solidFill>
              </a:rPr>
              <a:t>Development of a Decision Support System:</a:t>
            </a:r>
            <a:br>
              <a:rPr lang="en-IN" dirty="0">
                <a:solidFill>
                  <a:schemeClr val="bg1"/>
                </a:solidFill>
              </a:rPr>
            </a:br>
            <a:r>
              <a:rPr lang="en-IN" dirty="0">
                <a:solidFill>
                  <a:schemeClr val="bg1"/>
                </a:solidFill>
              </a:rPr>
              <a:t>The optimization model can be built into an </a:t>
            </a:r>
            <a:r>
              <a:rPr lang="en-IN" b="1" dirty="0">
                <a:solidFill>
                  <a:schemeClr val="bg1"/>
                </a:solidFill>
              </a:rPr>
              <a:t>interactive software tool or dashboard</a:t>
            </a:r>
            <a:r>
              <a:rPr lang="en-IN" dirty="0">
                <a:solidFill>
                  <a:schemeClr val="bg1"/>
                </a:solidFill>
              </a:rPr>
              <a:t> that helps production managers automatically suggest optimal parameter settings.</a:t>
            </a:r>
          </a:p>
          <a:p>
            <a:pPr marL="285750" indent="-285750">
              <a:buFont typeface="Arial" panose="020B0604020202020204" pitchFamily="34" charset="0"/>
              <a:buChar char="•"/>
            </a:pPr>
            <a:endParaRPr lang="en-IN" dirty="0">
              <a:solidFill>
                <a:schemeClr val="bg1"/>
              </a:solidFill>
            </a:endParaRPr>
          </a:p>
          <a:p>
            <a:pPr marL="285750" indent="-285750">
              <a:buFont typeface="Arial" panose="020B0604020202020204" pitchFamily="34" charset="0"/>
              <a:buChar char="•"/>
            </a:pPr>
            <a:r>
              <a:rPr lang="en-IN" b="1" dirty="0">
                <a:solidFill>
                  <a:schemeClr val="bg1"/>
                </a:solidFill>
              </a:rPr>
              <a:t>Validation through Experimental Studies:</a:t>
            </a:r>
            <a:br>
              <a:rPr lang="en-IN" dirty="0">
                <a:solidFill>
                  <a:schemeClr val="bg1"/>
                </a:solidFill>
              </a:rPr>
            </a:br>
            <a:r>
              <a:rPr lang="en-IN" dirty="0">
                <a:solidFill>
                  <a:schemeClr val="bg1"/>
                </a:solidFill>
              </a:rPr>
              <a:t>The optimized parameters can be tested on actual production lines to </a:t>
            </a:r>
            <a:r>
              <a:rPr lang="en-IN" b="1" dirty="0">
                <a:solidFill>
                  <a:schemeClr val="bg1"/>
                </a:solidFill>
              </a:rPr>
              <a:t>validate the model predictions</a:t>
            </a:r>
            <a:r>
              <a:rPr lang="en-IN" dirty="0">
                <a:solidFill>
                  <a:schemeClr val="bg1"/>
                </a:solidFill>
              </a:rPr>
              <a:t> and assess real-world improvements in defect rates.</a:t>
            </a:r>
            <a:endParaRPr lang="en-IN" sz="2000" dirty="0">
              <a:solidFill>
                <a:schemeClr val="bg1"/>
              </a:solidFill>
            </a:endParaRPr>
          </a:p>
        </p:txBody>
      </p:sp>
    </p:spTree>
    <p:extLst>
      <p:ext uri="{BB962C8B-B14F-4D97-AF65-F5344CB8AC3E}">
        <p14:creationId xmlns:p14="http://schemas.microsoft.com/office/powerpoint/2010/main" val="1318380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F25A40-ED9B-6696-3C32-15EA26482907}"/>
              </a:ext>
            </a:extLst>
          </p:cNvPr>
          <p:cNvSpPr txBox="1"/>
          <p:nvPr/>
        </p:nvSpPr>
        <p:spPr>
          <a:xfrm>
            <a:off x="0" y="2705725"/>
            <a:ext cx="12191999" cy="1446550"/>
          </a:xfrm>
          <a:prstGeom prst="rect">
            <a:avLst/>
          </a:prstGeom>
          <a:noFill/>
        </p:spPr>
        <p:txBody>
          <a:bodyPr wrap="square" rtlCol="0">
            <a:spAutoFit/>
          </a:bodyPr>
          <a:lstStyle/>
          <a:p>
            <a:pPr algn="ctr"/>
            <a:r>
              <a:rPr lang="en-IN" sz="8800" b="1" dirty="0">
                <a:solidFill>
                  <a:schemeClr val="accent4">
                    <a:lumMod val="40000"/>
                    <a:lumOff val="60000"/>
                  </a:schemeClr>
                </a:solidFill>
              </a:rPr>
              <a:t>THANK  YOU</a:t>
            </a:r>
          </a:p>
        </p:txBody>
      </p:sp>
    </p:spTree>
    <p:extLst>
      <p:ext uri="{BB962C8B-B14F-4D97-AF65-F5344CB8AC3E}">
        <p14:creationId xmlns:p14="http://schemas.microsoft.com/office/powerpoint/2010/main" val="2457053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TotalTime>
  <Words>2014</Words>
  <Application>Microsoft Office PowerPoint</Application>
  <PresentationFormat>Widescreen</PresentationFormat>
  <Paragraphs>212</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Arial Black</vt:lpstr>
      <vt:lpstr>Bahnschrift SemiBold Condensed</vt:lpstr>
      <vt:lpstr>Calibri</vt:lpstr>
      <vt:lpstr>Calibri Light</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ahan prodhan</dc:creator>
  <cp:lastModifiedBy>user</cp:lastModifiedBy>
  <cp:revision>8</cp:revision>
  <dcterms:created xsi:type="dcterms:W3CDTF">2025-11-08T16:19:06Z</dcterms:created>
  <dcterms:modified xsi:type="dcterms:W3CDTF">2026-02-01T10:45:40Z</dcterms:modified>
</cp:coreProperties>
</file>